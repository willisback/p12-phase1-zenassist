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1097280"/>
            <a:ext cx="3200400" cy="3200400"/>
          </a:xfrm>
          <a:prstGeom prst="ellipse">
            <a:avLst/>
          </a:prstGeom>
          <a:solidFill>
            <a:srgbClr val="065A82">
              <a:alpha val="40000"/>
            </a:srgbClr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-457200"/>
            <a:ext cx="1828800" cy="182880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594360"/>
            <a:ext cx="2011680" cy="3200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94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B35"/>
                </a:solidFill>
              </a:rPr>
              <a:t>PROJET 12 — 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6858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Étiquetage automatique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réclamations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D9E8"/>
                </a:solidFill>
              </a:rPr>
              <a:t>Machine Learning vs LLM — Analyse comparative &amp; recommandation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D9E8"/>
                </a:solidFill>
              </a:rPr>
              <a:t>William Derue</a:t>
            </a:r>
            <a:pPr indent="0" marL="0">
              <a:buNone/>
            </a:pPr>
            <a:r>
              <a:rPr lang="en-US" sz="1000" dirty="0">
                <a:solidFill>
                  <a:srgbClr val="9DD9E8"/>
                </a:solidFill>
              </a:rPr>
              <a:t>   |   ZenAssist — Exploration IA   | 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Contexte du projet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7432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2743200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430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La plateforme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5A72"/>
                </a:solidFill>
              </a:rPr>
              <a:t>ZenAssist centralise les réclamations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D5A72"/>
                </a:solidFill>
              </a:rPr>
              <a:t>de 200+ entreprises clientes.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05840"/>
            <a:ext cx="27432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005840"/>
            <a:ext cx="2743200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1430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383280" y="1874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Le problème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3317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5A72"/>
                </a:solidFill>
              </a:rPr>
              <a:t>200 tickets/jour à trier manuellement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D5A72"/>
                </a:solidFill>
              </a:rPr>
              <a:t>→ goulot d'étranglement, erreurs de routage.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72200" y="1005840"/>
            <a:ext cx="27432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005840"/>
            <a:ext cx="2743200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1430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309360" y="1874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L'objectif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3317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5A72"/>
                </a:solidFill>
              </a:rPr>
              <a:t>Automatiser l'étiquetage pour router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D5A72"/>
                </a:solidFill>
              </a:rPr>
              <a:t>automatiquement vers le bon service.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3931920"/>
            <a:ext cx="8503920" cy="804672"/>
          </a:xfrm>
          <a:prstGeom prst="rect">
            <a:avLst/>
          </a:prstGeom>
          <a:solidFill>
            <a:srgbClr val="D0E8F2"/>
          </a:solidFill>
          <a:ln w="12700">
            <a:solidFill>
              <a:srgbClr val="D0E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931920"/>
            <a:ext cx="8321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5"/>
                </a:solidFill>
              </a:rPr>
              <a:t>Équipe ZenAssist : </a:t>
            </a:r>
            <a:pPr indent="0" marL="0">
              <a:buNone/>
            </a:pPr>
            <a:r>
              <a:rPr lang="en-US" sz="1100" dirty="0">
                <a:solidFill>
                  <a:srgbClr val="0F1B35"/>
                </a:solidFill>
              </a:rPr>
              <a:t>Product Owner (Pierre Martin) · Développeur Front-end · Développeur Back-end   |   </a:t>
            </a:r>
            <a:pPr indent="0" marL="0">
              <a:buNone/>
            </a:pPr>
            <a:r>
              <a:rPr lang="en-US" sz="1100" b="1" dirty="0">
                <a:solidFill>
                  <a:srgbClr val="0F1B35"/>
                </a:solidFill>
              </a:rPr>
              <a:t>Déploiement : </a:t>
            </a:r>
            <a:pPr indent="0" marL="0">
              <a:buNone/>
            </a:pPr>
            <a:r>
              <a:rPr lang="en-US" sz="1100" dirty="0">
                <a:solidFill>
                  <a:srgbClr val="0F1B35"/>
                </a:solidFill>
              </a:rPr>
              <a:t>Pilote 5 clients (≈1 000 tickets/j) → déploiement global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Analyse du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82880" y="960120"/>
            <a:ext cx="2029968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96012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383 564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" y="1463040"/>
            <a:ext cx="2029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DD9E8"/>
                </a:solidFill>
              </a:rPr>
              <a:t>réclamations exploitables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395728" y="960120"/>
            <a:ext cx="2029968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95728" y="96012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395728" y="1463040"/>
            <a:ext cx="2029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DD9E8"/>
                </a:solidFill>
              </a:rPr>
              <a:t>classes retenues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08576" y="960120"/>
            <a:ext cx="2029968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96012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18→11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08576" y="1463040"/>
            <a:ext cx="2029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DD9E8"/>
                </a:solidFill>
              </a:rPr>
              <a:t>tags (fusion des obsolètes)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821424" y="960120"/>
            <a:ext cx="2029968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21424" y="96012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80 / 20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21424" y="1463040"/>
            <a:ext cx="2029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DD9E8"/>
                </a:solidFill>
              </a:rPr>
              <a:t>split train / test</a:t>
            </a:r>
            <a:endParaRPr lang="en-US" sz="950" dirty="0"/>
          </a:p>
        </p:txBody>
      </p:sp>
      <p:pic>
        <p:nvPicPr>
          <p:cNvPr id="17" name="Image 0" descr="img_datas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920240"/>
            <a:ext cx="87782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Choix des métriques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1605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91440" cy="11430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5"/>
                </a:solidFill>
              </a:rPr>
              <a:t>F1 macro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5A72"/>
                </a:solidFill>
              </a:rPr>
              <a:t>Pénalise les classes sous-représentées. Indispensable face au déséquilibre des données.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2331720"/>
            <a:ext cx="41605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331720"/>
            <a:ext cx="91440" cy="1143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42316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5"/>
                </a:solidFill>
              </a:rPr>
              <a:t>Accuracy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78892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5A72"/>
                </a:solidFill>
              </a:rPr>
              <a:t>Mesure globale facile à communiquer au Product Owner (baseline intuitive).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657600"/>
            <a:ext cx="41605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657600"/>
            <a:ext cx="91440" cy="1143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7490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5"/>
                </a:solidFill>
              </a:rPr>
              <a:t>Couverture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11480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5A72"/>
                </a:solidFill>
              </a:rPr>
              <a:t>S'assure que chaque ticket reçoit une prédiction valide (100 % requis en prod).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54880" y="1005840"/>
            <a:ext cx="41605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1005840"/>
            <a:ext cx="91440" cy="1143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1097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5"/>
                </a:solidFill>
              </a:rPr>
              <a:t>Latence moy. &amp; P95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146304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5A72"/>
                </a:solidFill>
              </a:rPr>
              <a:t>UX critique : le client voit le tag apparaître en temps réel. Cible &lt; 500 ms.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2331720"/>
            <a:ext cx="41605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331720"/>
            <a:ext cx="91440" cy="1143000"/>
          </a:xfrm>
          <a:prstGeom prst="rect">
            <a:avLst/>
          </a:prstGeom>
          <a:solidFill>
            <a:srgbClr val="2D5A72"/>
          </a:solidFill>
          <a:ln w="12700">
            <a:solidFill>
              <a:srgbClr val="2D5A7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42316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5"/>
                </a:solidFill>
              </a:rPr>
              <a:t>Temps d'entraînement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278892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5A72"/>
                </a:solidFill>
              </a:rPr>
              <a:t>Indicateur de maintenabilité : ré-entraîner en cas de nouvelles classes.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3657600"/>
            <a:ext cx="41605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657600"/>
            <a:ext cx="91440" cy="11430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7490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5"/>
                </a:solidFill>
              </a:rPr>
              <a:t>Coût infra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411480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5A72"/>
                </a:solidFill>
              </a:rPr>
              <a:t>Rentabilité à l'échelle (centaines de milliers de tickets/mois).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Approche LLM — Comparaison des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DD9E8"/>
                </a:solidFill>
              </a:rPr>
              <a:t>Modèle : Intel/Qwen3.5-122B-A10B-int4-AutoRound  ·  Infra : NVIDIA DGX Spark (vLLM / SGLang)  ·  Échantillon : 100 tickets stratifiés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417320"/>
          <a:ext cx="8595360" cy="292608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914400"/>
                <a:gridCol w="914400"/>
                <a:gridCol w="1051560"/>
                <a:gridCol w="868680"/>
              </a:tblGrid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Variante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Stratégie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F1 Macro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F1 Weighted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Latence (s)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</a:rPr>
                        <a:t>v5_expert_persona ⭐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Persona CFPB + few-shot + descriptions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0.800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0.5689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0.7973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107.9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v1_baseline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Rôle + tâche + few-shot + descriptions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0.5547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0.7814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105.8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v3_structured_json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Sortie JSON structurée + descriptions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0.760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0.5495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0.7585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63.4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v4_cot_brief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Chain-of-thought court + descriptions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0.760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0.5429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0.7554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45.8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v2_minimal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Zero-shot minimal, labels seuls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0.740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0.5092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0.7375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34.3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74320" y="44348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C7293"/>
                </a:solidFill>
              </a:rPr>
              <a:t>⭐ Meilleur prompt retenu pour l'évaluation finale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Approche LLM — Performance &amp; latence (v5_expert_persona)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659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80.4 %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Accuracy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1005840"/>
            <a:ext cx="19659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0.634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423160" y="16002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F1 Macro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194560"/>
            <a:ext cx="1965960" cy="10058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24028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2 146 ms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74320" y="278892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Latence moyenne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23160" y="2194560"/>
            <a:ext cx="1965960" cy="10058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23160" y="224028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0.9 t/s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423160" y="278892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Débit (2 workers)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474720"/>
            <a:ext cx="4114800" cy="822960"/>
          </a:xfrm>
          <a:prstGeom prst="rect">
            <a:avLst/>
          </a:prstGeom>
          <a:solidFill>
            <a:srgbClr val="FFF3E0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93008"/>
            <a:ext cx="38404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5"/>
                </a:solidFill>
              </a:rPr>
              <a:t>⚠ Projection dataset complet : </a:t>
            </a:r>
            <a:pPr indent="0" marL="0">
              <a:buNone/>
            </a:pPr>
            <a:r>
              <a:rPr lang="en-US" sz="1000" dirty="0">
                <a:solidFill>
                  <a:srgbClr val="0F1B35"/>
                </a:solidFill>
              </a:rPr>
              <a:t>~114h pour 383 564 tickets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B35"/>
                </a:solidFill>
              </a:rPr>
              <a:t>(2 workers parallèles)</a:t>
            </a:r>
            <a:endParaRPr lang="en-US" sz="1000" dirty="0"/>
          </a:p>
        </p:txBody>
      </p:sp>
      <p:pic>
        <p:nvPicPr>
          <p:cNvPr id="19" name="Image 0" descr="img_lat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960120"/>
            <a:ext cx="4343400" cy="33832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572000" y="4389120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A4BF"/>
                </a:solidFill>
              </a:rPr>
              <a:t>Débit &amp; distribution latence — DGX Spark (vLLM)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Approche ML — Résultats comparatifs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DD9E8"/>
                </a:solidFill>
              </a:rPr>
              <a:t>Vectorisation : TF-IDF (max_features=30 000, ngram 1-2)  ·  Split 80/20 stratifié  ·  76 713 tickets en test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417320"/>
          <a:ext cx="8595360" cy="2377440"/>
        </p:xfrm>
        <a:graphic>
          <a:graphicData uri="http://schemas.openxmlformats.org/drawingml/2006/table">
            <a:tbl>
              <a:tblPr/>
              <a:tblGrid>
                <a:gridCol w="2743200"/>
                <a:gridCol w="868680"/>
                <a:gridCol w="868680"/>
                <a:gridCol w="1097280"/>
                <a:gridCol w="731520"/>
                <a:gridCol w="91440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Modèle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Acc. train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Acc. test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F1 macro test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Gap F1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Train time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Lat. moy.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7293"/>
                          </a:solidFill>
                        </a:rPr>
                        <a:t>SGDClassifier (early_stopping) ⭐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0.8315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0.8281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0.6854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0.034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18.8 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0.23 ms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LinearSVC (C=0.01, balanced)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0.8299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0.8238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0.6743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0.047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73.7 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0.06 ms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ComplementNB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0.7946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0.7949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0.5404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0.002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0.33 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0.22 ms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DummyClassifier (most_frequent)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0.3232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0.3232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0.0444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0.000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&lt; 0.1 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B35"/>
                          </a:solidFill>
                        </a:rPr>
                        <a:t>0.02 ms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74320" y="3977640"/>
            <a:ext cx="2697480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4320" y="397764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0.6854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274320" y="44165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F1 Macro (SGD)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54680" y="3977640"/>
            <a:ext cx="269748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154680" y="397764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&lt; 1 ms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154680" y="44165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Latence moyenne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035040" y="3977640"/>
            <a:ext cx="2697480" cy="777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35040" y="397764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CPU only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035040" y="44165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Infra requise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C7293"/>
                </a:solidFill>
              </a:rPr>
              <a:t>⭐ SGDClassifier retenu : meilleur compromis F1 / latence / stabilité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LLM vs Machine Learning — Comparaison directe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3931920"/>
        </p:xfrm>
        <a:graphic>
          <a:graphicData uri="http://schemas.openxmlformats.org/drawingml/2006/table">
            <a:tbl>
              <a:tblPr/>
              <a:tblGrid>
                <a:gridCol w="2560320"/>
                <a:gridCol w="2377440"/>
                <a:gridCol w="237744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Critère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LLM (Qwen3.5-122B)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ML (SGDClassifier)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Avantage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Accuracy (test)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80.4 %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82.8 %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</a:rPr>
                        <a:t>ML ✓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F1 Macro (test)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0.634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0.685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</a:rPr>
                        <a:t>ML ✓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Latence moyenne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2 146 ms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0.23 ms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</a:rPr>
                        <a:t>ML ✓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Débit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0.9 t/s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~4 349 t/s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</a:rPr>
                        <a:t>ML ✓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Infra requise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GPU (DGX Spark)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CPU seul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</a:rPr>
                        <a:t>ML ✓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Données labellisées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0 (zero-shot)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Oui (80% train)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</a:rPr>
                        <a:t>LLM ✓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Ajout de nouvelles classes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Modifier le prompt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Ré-entraîner le modèle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</a:rPr>
                        <a:t>LLM ✓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Projection 383k tickets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~114 heures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&lt; 1 seconde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</a:rPr>
                        <a:t>ML ✓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Avantages &amp; inconvénients de chaque approche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🤖  LLM (Qwen3.5-122B)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4023360" cy="2743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32"/>
                </a:solidFill>
              </a:rPr>
              <a:t>✅ Avantages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" y="178308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Zero-shot : aucune donnée labellisée requise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Adaptation instantanée à de nouvelles classes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Généralisation sur des formulations inattendues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743200"/>
            <a:ext cx="4023360" cy="274320"/>
          </a:xfrm>
          <a:prstGeom prst="rect">
            <a:avLst/>
          </a:prstGeom>
          <a:solidFill>
            <a:srgbClr val="FFEBEE"/>
          </a:solidFill>
          <a:ln w="12700">
            <a:solidFill>
              <a:srgbClr val="EF9A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743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</a:rPr>
              <a:t>❌ Inconvénients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306324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Latence ~2 000 ms — hors cible UX temps réel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Coût GPU prohibitif à grande échelle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Score F1 macro inférieur au ML sur données équilibrées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960120"/>
            <a:ext cx="40233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9601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⚙️  Machine Learning (SGDClassifier)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1463040"/>
            <a:ext cx="4023360" cy="2743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1463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32"/>
                </a:solidFill>
              </a:rPr>
              <a:t>✅ Avantages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78308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Accuracy 82.8 % et F1 macro 0.685 supérieurs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Latence sub-milliseconde : UX temps réel garanti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CPU suffisant : infra légère et économique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2743200"/>
            <a:ext cx="4023360" cy="274320"/>
          </a:xfrm>
          <a:prstGeom prst="rect">
            <a:avLst/>
          </a:prstGeom>
          <a:solidFill>
            <a:srgbClr val="FFEBEE"/>
          </a:solidFill>
          <a:ln w="12700">
            <a:solidFill>
              <a:srgbClr val="EF9A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743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</a:rPr>
              <a:t>❌ Inconvénients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937760" y="306324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Données labellisées requises (80% du dataset)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Ré-entraînement nécessaire pour nouvelles classes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35"/>
                </a:solidFill>
              </a:rPr>
              <a:t>Performances dégradées sur classes très rares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26280" y="960120"/>
            <a:ext cx="0" cy="3017520"/>
          </a:xfrm>
          <a:prstGeom prst="line">
            <a:avLst/>
          </a:prstGeom>
          <a:noFill/>
          <a:ln w="19050">
            <a:solidFill>
              <a:srgbClr val="D0E8F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74320" y="4069080"/>
            <a:ext cx="8595360" cy="685800"/>
          </a:xfrm>
          <a:prstGeom prst="rect">
            <a:avLst/>
          </a:prstGeom>
          <a:solidFill>
            <a:srgbClr val="EDE7F6"/>
          </a:solidFill>
          <a:ln w="12700">
            <a:solidFill>
              <a:srgbClr val="B39D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069080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148C"/>
                </a:solidFill>
              </a:rPr>
              <a:t>🚀 Bonus — Fine-tuning ModernBERT-large : </a:t>
            </a:r>
            <a:pPr indent="0" marL="0">
              <a:buNone/>
            </a:pPr>
            <a:r>
              <a:rPr lang="en-US" sz="1000" dirty="0">
                <a:solidFill>
                  <a:srgbClr val="4A148C"/>
                </a:solidFill>
              </a:rPr>
              <a:t>3ème approche explorée via Unsloth. Voir slides suivantes pour les résultats complets.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Comparatif 3 approches — Performance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DD9E8"/>
                </a:solidFill>
              </a:rPr>
              <a:t>Évaluation commune : 1 000 tickets stratifiés — 11 classes  ·  Date : 2026-04-06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53312"/>
          <a:ext cx="8595360" cy="324612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2194560"/>
                <a:gridCol w="20116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Métrique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🤖 LLM (Qwen3.5-122B)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⚙️ ML (SGDClassifier)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🧠 ModernBERT fine-tuné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Accuracy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0.820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7293"/>
                          </a:solidFill>
                        </a:rPr>
                        <a:t>0.828 ⭐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0.787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F1 Macro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0.662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7293"/>
                          </a:solidFill>
                        </a:rPr>
                        <a:t>0.685 ⭐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0.636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F1 Weighted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0.822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0.685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0.794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Coverage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100 %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100 %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100 %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Latence moyenne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2 114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7293"/>
                          </a:solidFill>
                        </a:rPr>
                        <a:t>&lt; 1 ms ⭐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1 639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Latence P95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2 638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7293"/>
                          </a:solidFill>
                        </a:rPr>
                        <a:t>&lt; 1 ms ⭐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5 380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Débit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~0.5 t/s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7293"/>
                          </a:solidFill>
                        </a:rPr>
                        <a:t>&gt; 10 000 t/s ⭐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B35"/>
                          </a:solidFill>
                        </a:rPr>
                        <a:t>~0.6 t/s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A4BF"/>
                </a:solidFill>
              </a:rPr>
              <a:t>ModernBERT : WillisBack/modernbert-large-consumer-finance-11cls (395M params, full fine-tuning Unsloth, RTX 5080, 6.3h d'entraînement)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Comparatif 3 approches — Configuration &amp; coûts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3931920"/>
        </p:xfrm>
        <a:graphic>
          <a:graphicData uri="http://schemas.openxmlformats.org/drawingml/2006/table">
            <a:tbl>
              <a:tblPr/>
              <a:tblGrid>
                <a:gridCol w="2286000"/>
                <a:gridCol w="2011680"/>
                <a:gridCol w="2011680"/>
                <a:gridCol w="2103120"/>
              </a:tblGrid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Critère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🤖 LLM (Qwen3.5-122B)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⚙️ ML (SGDClassifier)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🧠 ModernBERT fine-tuné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Type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Zero-shot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Supervisé classique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Encoder fine-tuné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Paramètres / features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~122B (int4 quant.)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TF-IDF 30 000 feat.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395M (full fine-tuning)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Infrastructure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GPU (DGX Spark)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CPU standard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GPU (RTX 5080)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Données d'entraînement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C7293"/>
                          </a:solidFill>
                        </a:rPr>
                        <a:t>Aucune ✅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Train split (306 k)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293 k tickets (HF)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Coût entraînement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C7293"/>
                          </a:solidFill>
                        </a:rPr>
                        <a:t>Nul ✅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Faible (CPU, ~19 s)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Modéré (GPU, ~6.3 h)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Coût inférence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Élevé (GPU dédié)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C7293"/>
                          </a:solidFill>
                        </a:rPr>
                        <a:t>Très faible (CPU) ✅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Modéré (GPU)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Scalabilité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Limitée (0.5 t/s)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C7293"/>
                          </a:solidFill>
                        </a:rPr>
                        <a:t>Excellente ✅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Bonne (batch GPU)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Mise en production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API simple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C7293"/>
                          </a:solidFill>
                        </a:rPr>
                        <a:t>Léger (pickle+API) ✅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Modéré (GPU requis)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Ajout nouvelles classes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C7293"/>
                          </a:solidFill>
                        </a:rPr>
                        <a:t>Modifier le prompt ✅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Ré-entraîner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0F1B35"/>
                          </a:solidFill>
                        </a:rPr>
                        <a:t>Ré-fine-tuner</a:t>
                      </a:r>
                      <a:endParaRPr lang="en-US" sz="98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5"/>
          </a:solidFill>
          <a:ln w="12700">
            <a:solidFill>
              <a:srgbClr val="0F1B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Coûts &amp; Scalabilité — LLM via Mistral AI (API cloud)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DD9E8"/>
                </a:solidFill>
              </a:rPr>
              <a:t>Estimation tokens : ~2 451 tokens/ticket (system prompt + labels + few-shot + texte)  ·  Source tarifs : mistral.com/pricing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89888"/>
          <a:ext cx="8595360" cy="2286000"/>
        </p:xfrm>
        <a:graphic>
          <a:graphicData uri="http://schemas.openxmlformats.org/drawingml/2006/table">
            <a:tbl>
              <a:tblPr/>
              <a:tblGrid>
                <a:gridCol w="2286000"/>
                <a:gridCol w="1600200"/>
                <a:gridCol w="1828800"/>
                <a:gridCol w="1828800"/>
                <a:gridCol w="123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Modèle Mistral AI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1 000 tickets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383 564 tickets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Qualité estimée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Latence API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B35"/>
                          </a:solidFill>
                        </a:rPr>
                        <a:t>Mistral Small 3.1 ⭐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C7293"/>
                          </a:solidFill>
                        </a:rPr>
                        <a:t>~$0.25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C7293"/>
                          </a:solidFill>
                        </a:rPr>
                        <a:t>~$95.15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C7293"/>
                          </a:solidFill>
                        </a:rPr>
                        <a:t>Inférieure (7B)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C7293"/>
                          </a:solidFill>
                        </a:rPr>
                        <a:t>100–300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Mistral Medium 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~$1.00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~$383.68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Comparable (~76 MMLU)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200–500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Mistral Large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~$4.96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~$1 903.06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Supérieure (~79 MMLU)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B35"/>
                          </a:solidFill>
                        </a:rPr>
                        <a:t>500–1 000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</a:rPr>
                        <a:t>Local DGX Spark ⚡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C7293"/>
                          </a:solidFill>
                        </a:rPr>
                        <a:t>$0 (matériel amorti)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C7293"/>
                          </a:solidFill>
                        </a:rPr>
                        <a:t>$0 (matériel amorti)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C7293"/>
                          </a:solidFill>
                        </a:rPr>
                        <a:t>F1 0.66 (Qwen 122B)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C7293"/>
                          </a:solidFill>
                        </a:rPr>
                        <a:t>~2 114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74320" y="3840480"/>
            <a:ext cx="26974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65760" y="3858768"/>
            <a:ext cx="251460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B35"/>
                </a:solidFill>
              </a:rPr>
              <a:t>💡  Pour un prototype ou éval ponctuelle, Mistral Small 3.1 est optimal : &lt; $1 pour 1 000 tickets.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154680" y="3840480"/>
            <a:ext cx="26974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4A2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246120" y="3858768"/>
            <a:ext cx="251460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B35"/>
                </a:solidFill>
              </a:rPr>
              <a:t>⚠️  À l'échelle complète (383 k tickets), même Mistral Small coûte ~$95. Mistral Large &gt; $1 900.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35040" y="3840480"/>
            <a:ext cx="26974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126480" y="3858768"/>
            <a:ext cx="251460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B35"/>
                </a:solidFill>
              </a:rPr>
              <a:t>🔒  Données privées : le DGX Spark on-premise garantit la confidentialité sans opt-out cloud.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A4BF"/>
                </a:solidFill>
              </a:rPr>
              <a:t>Note : Tarifs indicatifs 2026 — à vérifier sur mistral.ai/pricing avant déploiement. Coûts hors taxes.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065A82">
              <a:alpha val="25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1C7293">
              <a:alpha val="2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DD9E8"/>
                </a:solidFill>
              </a:rPr>
              <a:t>Recommandation finale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2743200" cy="3291840"/>
          </a:xfrm>
          <a:prstGeom prst="rect">
            <a:avLst/>
          </a:prstGeom>
          <a:solidFill>
            <a:srgbClr val="0D1B2E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749808"/>
            <a:ext cx="2743200" cy="640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841248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8412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143560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DD9E8"/>
                </a:solidFill>
              </a:rPr>
              <a:t>Prototype / Exploration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219456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874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LLM zero-shot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2267712"/>
            <a:ext cx="25603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0E8F2"/>
                </a:solidFill>
              </a:rPr>
              <a:t>Zero-shot, démarrage immédiat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0E8F2"/>
                </a:solidFill>
              </a:rPr>
              <a:t>Valide la faisabilité sans données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0E8F2"/>
                </a:solidFill>
              </a:rPr>
              <a:t>Coût : ~$0.25 / 1 000 tickets (Mistral Small)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154680" y="749808"/>
            <a:ext cx="2743200" cy="3291840"/>
          </a:xfrm>
          <a:prstGeom prst="rect">
            <a:avLst/>
          </a:prstGeom>
          <a:solidFill>
            <a:srgbClr val="0D1B2E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54680" y="749808"/>
            <a:ext cx="274320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51960" y="841248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51960" y="8412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46120" y="143560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DD9E8"/>
                </a:solidFill>
              </a:rPr>
              <a:t>Production haut volume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29000" y="1874520"/>
            <a:ext cx="2194560" cy="320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1874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ML — SGDClassifier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2267712"/>
            <a:ext cx="25603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0E8F2"/>
                </a:solidFill>
              </a:rPr>
              <a:t>F1 macro 0.685 — meilleure perf.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0E8F2"/>
                </a:solidFill>
              </a:rPr>
              <a:t>Latence &lt; 1 ms — UX temps réel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0E8F2"/>
                </a:solidFill>
              </a:rPr>
              <a:t>CPU seul, déploiement léger, $0 inférence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80760" y="749808"/>
            <a:ext cx="2743200" cy="3291840"/>
          </a:xfrm>
          <a:prstGeom prst="rect">
            <a:avLst/>
          </a:prstGeom>
          <a:solidFill>
            <a:srgbClr val="0D1B2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80760" y="749808"/>
            <a:ext cx="274320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841248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8412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172200" y="143560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DD9E8"/>
                </a:solidFill>
              </a:rPr>
              <a:t>Qualité maximale / évolution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1874520"/>
            <a:ext cx="219456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1874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ModernBERT fine-tuné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72200" y="2267712"/>
            <a:ext cx="25603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0E8F2"/>
                </a:solidFill>
              </a:rPr>
              <a:t>Meilleur compromis qualité/coût GPU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0E8F2"/>
                </a:solidFill>
              </a:rPr>
              <a:t>395M params, entraîné en 6.3 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0E8F2"/>
                </a:solidFill>
              </a:rPr>
              <a:t>Voie de montée en gamme recommandée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28600" y="4169664"/>
            <a:ext cx="868680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169664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Stratégie hybride recommandée 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Phase pilote → LLM (collecte labels)  ·  Production → ML SGDClassifier  ·  Évolution → ModernBERT fine-tuné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28600" y="477316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4A6080"/>
                </a:solidFill>
              </a:rPr>
              <a:t>Déclaration d'usage de l'IAG : des outils d'intelligence artificielle générative (GitHub Copilot, Claude) ont été utilisés en assistance au développement du code et à la production des livrables de ce projet.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12 – Phase 1 – ZenAssist Étiquetage Automatique</dc:title>
  <dc:subject>PptxGenJS Presentation</dc:subject>
  <dc:creator>William Derue</dc:creator>
  <cp:lastModifiedBy>William Derue</cp:lastModifiedBy>
  <cp:revision>1</cp:revision>
  <dcterms:created xsi:type="dcterms:W3CDTF">2026-04-06T14:34:48Z</dcterms:created>
  <dcterms:modified xsi:type="dcterms:W3CDTF">2026-04-06T14:34:48Z</dcterms:modified>
</cp:coreProperties>
</file>