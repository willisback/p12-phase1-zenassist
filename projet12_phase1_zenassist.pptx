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6.xml" ContentType="application/vnd.openxmlformats-officedocument.presentationml.slide+xml"/>
  <Override PartName="/ppt/slides/slide11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</a:t>
            </a: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slide</a:t>
            </a:r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</a:t>
            </a: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notes format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0E767213-7559-49C8-A842-CC9C5F08944C}" type="slidenum"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FFB64B6-58A7-4255-AD8D-C813E0D9931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53A3237-C87F-4C5F-B53C-73A4FB64DAD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6CD4965-FF11-4D71-A33B-6D35D53B548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4D909B6-FE08-40E1-B212-7DA68707690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99D5213-1872-45CA-ACF5-89C5AB9C9C9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D3AC15C-A5E5-46BB-B4F5-6900401AD5D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212A884-49EE-4BF9-945F-72DF9A72C60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B9C4A53-0070-4BD3-B20D-DC675ECCEF7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0E59884-1118-463B-90AC-6DF0886BE06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4C03C2D-C3A2-4D95-9911-9524AF1487E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AB5B30A-B0CE-4215-AE11-B7EC535B8CE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C54F7C6-F78A-4CDA-96CF-4D60DAC6A17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8431A00-6FCE-4141-85A4-507B947CCC3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</a:t>
            </a: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text format</a:t>
            </a:r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fr-F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319680" cy="5143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6858000" y="-1097280"/>
            <a:ext cx="3200040" cy="3200040"/>
          </a:xfrm>
          <a:prstGeom prst="ellipse">
            <a:avLst/>
          </a:prstGeom>
          <a:solidFill>
            <a:srgbClr val="065A82">
              <a:alpha val="40000"/>
            </a:srgbClr>
          </a:solidFill>
          <a:ln w="254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7498080" y="-457200"/>
            <a:ext cx="1828440" cy="182844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3"/>
          <p:cNvSpPr/>
          <p:nvPr/>
        </p:nvSpPr>
        <p:spPr>
          <a:xfrm>
            <a:off x="640080" y="594360"/>
            <a:ext cx="2011320" cy="3196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640080" y="594360"/>
            <a:ext cx="2011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F1B35"/>
                </a:solidFill>
                <a:effectLst/>
                <a:uFillTx/>
                <a:latin typeface="Calibri"/>
              </a:rPr>
              <a:t>PROJET 12 — PHASE 1</a:t>
            </a:r>
            <a:endParaRPr lang="fr-F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640080" y="109728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3800" b="1" u="none" spc="51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Étiquetage automatique</a:t>
            </a:r>
            <a:endParaRPr lang="fr-FR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3800" b="1" u="none" spc="51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des réclamations</a:t>
            </a:r>
            <a:endParaRPr lang="fr-FR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6"/>
          <p:cNvSpPr/>
          <p:nvPr/>
        </p:nvSpPr>
        <p:spPr>
          <a:xfrm>
            <a:off x="640080" y="3017520"/>
            <a:ext cx="7314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i="1" u="none" strike="noStrike">
                <a:solidFill>
                  <a:srgbClr val="9DD9E8"/>
                </a:solidFill>
                <a:effectLst/>
                <a:uFillTx/>
                <a:latin typeface="Calibri"/>
              </a:rPr>
              <a:t>Machine Learning vs LLM — Analyse comparative &amp; recommandation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7"/>
          <p:cNvSpPr/>
          <p:nvPr/>
        </p:nvSpPr>
        <p:spPr>
          <a:xfrm>
            <a:off x="0" y="4663440"/>
            <a:ext cx="9143640" cy="4798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8"/>
          <p:cNvSpPr/>
          <p:nvPr/>
        </p:nvSpPr>
        <p:spPr>
          <a:xfrm>
            <a:off x="640080" y="4663440"/>
            <a:ext cx="8229240" cy="47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9DD9E8"/>
                </a:solidFill>
                <a:effectLst/>
                <a:uFillTx/>
                <a:latin typeface="Calibri"/>
              </a:rPr>
              <a:t>William Derue</a:t>
            </a:r>
            <a:r>
              <a:rPr lang="en-US" sz="1000" b="0" u="none" strike="noStrike">
                <a:solidFill>
                  <a:srgbClr val="9DD9E8"/>
                </a:solidFill>
                <a:effectLst/>
                <a:uFillTx/>
                <a:latin typeface="Calibri"/>
              </a:rPr>
              <a:t>   |   ZenAssist — Exploration IA   |   2026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B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0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0F1B35"/>
          </a:solidFill>
          <a:ln w="12700">
            <a:solidFill>
              <a:srgbClr val="0F1B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1"/>
          <p:cNvSpPr/>
          <p:nvPr/>
        </p:nvSpPr>
        <p:spPr>
          <a:xfrm>
            <a:off x="0" y="777240"/>
            <a:ext cx="9143640" cy="543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2"/>
          <p:cNvSpPr/>
          <p:nvPr/>
        </p:nvSpPr>
        <p:spPr>
          <a:xfrm>
            <a:off x="457200" y="0"/>
            <a:ext cx="82292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Contexte du projet</a:t>
            </a:r>
            <a:endParaRPr lang="fr-F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3"/>
          <p:cNvSpPr/>
          <p:nvPr/>
        </p:nvSpPr>
        <p:spPr>
          <a:xfrm>
            <a:off x="320040" y="1005840"/>
            <a:ext cx="2742840" cy="2742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2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4"/>
          <p:cNvSpPr/>
          <p:nvPr/>
        </p:nvSpPr>
        <p:spPr>
          <a:xfrm>
            <a:off x="320040" y="1005840"/>
            <a:ext cx="2742840" cy="727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8080" rIns="90000" bIns="2808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5"/>
          <p:cNvSpPr/>
          <p:nvPr/>
        </p:nvSpPr>
        <p:spPr>
          <a:xfrm>
            <a:off x="320040" y="1143000"/>
            <a:ext cx="2742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📋</a:t>
            </a:r>
            <a:endParaRPr lang="fr-F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6"/>
          <p:cNvSpPr/>
          <p:nvPr/>
        </p:nvSpPr>
        <p:spPr>
          <a:xfrm>
            <a:off x="457200" y="1874520"/>
            <a:ext cx="2468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65A82"/>
                </a:solidFill>
                <a:effectLst/>
                <a:uFillTx/>
                <a:latin typeface="Calibri"/>
              </a:rPr>
              <a:t>La plateforme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7"/>
          <p:cNvSpPr/>
          <p:nvPr/>
        </p:nvSpPr>
        <p:spPr>
          <a:xfrm>
            <a:off x="457200" y="2331720"/>
            <a:ext cx="246852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D5A72"/>
                </a:solidFill>
                <a:effectLst/>
                <a:uFillTx/>
                <a:latin typeface="Calibri"/>
              </a:rPr>
              <a:t>ZenAssist centralise les réclamations</a:t>
            </a:r>
            <a:endParaRPr lang="fr-F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D5A72"/>
                </a:solidFill>
                <a:effectLst/>
                <a:uFillTx/>
                <a:latin typeface="Calibri"/>
              </a:rPr>
              <a:t>de 200+ entreprises clientes.</a:t>
            </a:r>
            <a:endParaRPr lang="fr-F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8"/>
          <p:cNvSpPr/>
          <p:nvPr/>
        </p:nvSpPr>
        <p:spPr>
          <a:xfrm>
            <a:off x="3246120" y="1005840"/>
            <a:ext cx="2742840" cy="2742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2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9"/>
          <p:cNvSpPr/>
          <p:nvPr/>
        </p:nvSpPr>
        <p:spPr>
          <a:xfrm>
            <a:off x="3246120" y="1005840"/>
            <a:ext cx="2742840" cy="727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8080" rIns="90000" bIns="2808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0"/>
          <p:cNvSpPr/>
          <p:nvPr/>
        </p:nvSpPr>
        <p:spPr>
          <a:xfrm>
            <a:off x="3246120" y="1143000"/>
            <a:ext cx="2742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⚡</a:t>
            </a:r>
            <a:endParaRPr lang="fr-F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11"/>
          <p:cNvSpPr/>
          <p:nvPr/>
        </p:nvSpPr>
        <p:spPr>
          <a:xfrm>
            <a:off x="3383280" y="1874520"/>
            <a:ext cx="2468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65A82"/>
                </a:solidFill>
                <a:effectLst/>
                <a:uFillTx/>
                <a:latin typeface="Calibri"/>
              </a:rPr>
              <a:t>Le problème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2"/>
          <p:cNvSpPr/>
          <p:nvPr/>
        </p:nvSpPr>
        <p:spPr>
          <a:xfrm>
            <a:off x="3383280" y="2331720"/>
            <a:ext cx="246852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D5A72"/>
                </a:solidFill>
                <a:effectLst/>
                <a:uFillTx/>
                <a:latin typeface="Calibri"/>
              </a:rPr>
              <a:t>200 tickets/jour à trier manuellement</a:t>
            </a:r>
            <a:endParaRPr lang="fr-F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D5A72"/>
                </a:solidFill>
                <a:effectLst/>
                <a:uFillTx/>
                <a:latin typeface="Calibri"/>
              </a:rPr>
              <a:t>→ goulot d'étranglement, erreurs de routage.</a:t>
            </a:r>
            <a:endParaRPr lang="fr-F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13"/>
          <p:cNvSpPr/>
          <p:nvPr/>
        </p:nvSpPr>
        <p:spPr>
          <a:xfrm>
            <a:off x="6172200" y="1005840"/>
            <a:ext cx="2742840" cy="2742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2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14"/>
          <p:cNvSpPr/>
          <p:nvPr/>
        </p:nvSpPr>
        <p:spPr>
          <a:xfrm>
            <a:off x="6172200" y="1005840"/>
            <a:ext cx="2742840" cy="727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8080" rIns="90000" bIns="2808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5"/>
          <p:cNvSpPr/>
          <p:nvPr/>
        </p:nvSpPr>
        <p:spPr>
          <a:xfrm>
            <a:off x="6172200" y="1143000"/>
            <a:ext cx="2742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🎯</a:t>
            </a:r>
            <a:endParaRPr lang="fr-F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6"/>
          <p:cNvSpPr/>
          <p:nvPr/>
        </p:nvSpPr>
        <p:spPr>
          <a:xfrm>
            <a:off x="6309360" y="1874520"/>
            <a:ext cx="2468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65A82"/>
                </a:solidFill>
                <a:effectLst/>
                <a:uFillTx/>
                <a:latin typeface="Calibri"/>
              </a:rPr>
              <a:t>L'objectif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7"/>
          <p:cNvSpPr/>
          <p:nvPr/>
        </p:nvSpPr>
        <p:spPr>
          <a:xfrm>
            <a:off x="6309360" y="2331720"/>
            <a:ext cx="246852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D5A72"/>
                </a:solidFill>
                <a:effectLst/>
                <a:uFillTx/>
                <a:latin typeface="Calibri"/>
              </a:rPr>
              <a:t>Automatiser l'étiquetage pour router</a:t>
            </a:r>
            <a:endParaRPr lang="fr-F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D5A72"/>
                </a:solidFill>
                <a:effectLst/>
                <a:uFillTx/>
                <a:latin typeface="Calibri"/>
              </a:rPr>
              <a:t>automatiquement vers le bon service.</a:t>
            </a:r>
            <a:endParaRPr lang="fr-F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18"/>
          <p:cNvSpPr/>
          <p:nvPr/>
        </p:nvSpPr>
        <p:spPr>
          <a:xfrm>
            <a:off x="320040" y="3931920"/>
            <a:ext cx="8503560" cy="804240"/>
          </a:xfrm>
          <a:prstGeom prst="rect">
            <a:avLst/>
          </a:prstGeom>
          <a:solidFill>
            <a:srgbClr val="D0E8F2"/>
          </a:solidFill>
          <a:ln w="12700">
            <a:solidFill>
              <a:srgbClr val="D0E8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9"/>
          <p:cNvSpPr/>
          <p:nvPr/>
        </p:nvSpPr>
        <p:spPr>
          <a:xfrm>
            <a:off x="457200" y="3931920"/>
            <a:ext cx="8320680" cy="8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F1B35"/>
                </a:solidFill>
                <a:effectLst/>
                <a:uFillTx/>
                <a:latin typeface="Calibri"/>
              </a:rPr>
              <a:t>Équipe ZenAssist : </a:t>
            </a:r>
            <a:r>
              <a:rPr lang="en-US" sz="1100" b="0" u="none" strike="noStrike">
                <a:solidFill>
                  <a:srgbClr val="0F1B35"/>
                </a:solidFill>
                <a:effectLst/>
                <a:uFillTx/>
                <a:latin typeface="Calibri"/>
              </a:rPr>
              <a:t>Product Owner (Pierre Martin) · Développeur Front-end · Développeur Back-end   |   </a:t>
            </a:r>
            <a:r>
              <a:rPr lang="en-US" sz="1100" b="1" u="none" strike="noStrike">
                <a:solidFill>
                  <a:srgbClr val="0F1B35"/>
                </a:solidFill>
                <a:effectLst/>
                <a:uFillTx/>
                <a:latin typeface="Calibri"/>
              </a:rPr>
              <a:t>Déploiement : </a:t>
            </a:r>
            <a:r>
              <a:rPr lang="en-US" sz="1100" b="0" u="none" strike="noStrike">
                <a:solidFill>
                  <a:srgbClr val="0F1B35"/>
                </a:solidFill>
                <a:effectLst/>
                <a:uFillTx/>
                <a:latin typeface="Calibri"/>
              </a:rPr>
              <a:t>Pilote 5 clients (≈1 000 tickets/j) → déploiement global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B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0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0F1B35"/>
          </a:solidFill>
          <a:ln w="12700">
            <a:solidFill>
              <a:srgbClr val="0F1B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1"/>
          <p:cNvSpPr/>
          <p:nvPr/>
        </p:nvSpPr>
        <p:spPr>
          <a:xfrm>
            <a:off x="0" y="777240"/>
            <a:ext cx="9143640" cy="543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2"/>
          <p:cNvSpPr/>
          <p:nvPr/>
        </p:nvSpPr>
        <p:spPr>
          <a:xfrm>
            <a:off x="457200" y="0"/>
            <a:ext cx="82292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Analyse du dataset</a:t>
            </a:r>
            <a:endParaRPr lang="fr-F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3"/>
          <p:cNvSpPr/>
          <p:nvPr/>
        </p:nvSpPr>
        <p:spPr>
          <a:xfrm>
            <a:off x="182880" y="960120"/>
            <a:ext cx="2029680" cy="8683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4"/>
          <p:cNvSpPr/>
          <p:nvPr/>
        </p:nvSpPr>
        <p:spPr>
          <a:xfrm>
            <a:off x="182880" y="960120"/>
            <a:ext cx="2029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b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383 564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5"/>
          <p:cNvSpPr/>
          <p:nvPr/>
        </p:nvSpPr>
        <p:spPr>
          <a:xfrm>
            <a:off x="182880" y="1463040"/>
            <a:ext cx="2029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9DD9E8"/>
                </a:solidFill>
                <a:effectLst/>
                <a:uFillTx/>
                <a:latin typeface="Calibri"/>
              </a:rPr>
              <a:t>réclamations exploitables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6"/>
          <p:cNvSpPr/>
          <p:nvPr/>
        </p:nvSpPr>
        <p:spPr>
          <a:xfrm>
            <a:off x="2395800" y="960120"/>
            <a:ext cx="2029680" cy="8683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7"/>
          <p:cNvSpPr/>
          <p:nvPr/>
        </p:nvSpPr>
        <p:spPr>
          <a:xfrm>
            <a:off x="2395800" y="960120"/>
            <a:ext cx="2029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b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11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8"/>
          <p:cNvSpPr/>
          <p:nvPr/>
        </p:nvSpPr>
        <p:spPr>
          <a:xfrm>
            <a:off x="2395800" y="1463040"/>
            <a:ext cx="2029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9DD9E8"/>
                </a:solidFill>
                <a:effectLst/>
                <a:uFillTx/>
                <a:latin typeface="Calibri"/>
              </a:rPr>
              <a:t>classes retenues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9"/>
          <p:cNvSpPr/>
          <p:nvPr/>
        </p:nvSpPr>
        <p:spPr>
          <a:xfrm>
            <a:off x="4608720" y="960120"/>
            <a:ext cx="2029680" cy="8683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10"/>
          <p:cNvSpPr/>
          <p:nvPr/>
        </p:nvSpPr>
        <p:spPr>
          <a:xfrm>
            <a:off x="4608720" y="960120"/>
            <a:ext cx="2029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b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18→11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1"/>
          <p:cNvSpPr/>
          <p:nvPr/>
        </p:nvSpPr>
        <p:spPr>
          <a:xfrm>
            <a:off x="4608720" y="1463040"/>
            <a:ext cx="2029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9DD9E8"/>
                </a:solidFill>
                <a:effectLst/>
                <a:uFillTx/>
                <a:latin typeface="Calibri"/>
              </a:rPr>
              <a:t>tags (fusion des </a:t>
            </a:r>
            <a:r>
              <a:rPr lang="en-US" sz="950" b="0" u="none" strike="noStrike">
                <a:solidFill>
                  <a:srgbClr val="9DD9E8"/>
                </a:solidFill>
                <a:effectLst/>
                <a:uFillTx/>
                <a:latin typeface="Calibri"/>
              </a:rPr>
              <a:t>obsolètes)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12"/>
          <p:cNvSpPr/>
          <p:nvPr/>
        </p:nvSpPr>
        <p:spPr>
          <a:xfrm>
            <a:off x="6821280" y="960120"/>
            <a:ext cx="2029680" cy="8683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13"/>
          <p:cNvSpPr/>
          <p:nvPr/>
        </p:nvSpPr>
        <p:spPr>
          <a:xfrm>
            <a:off x="6821280" y="960120"/>
            <a:ext cx="2029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b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80 / 20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14"/>
          <p:cNvSpPr/>
          <p:nvPr/>
        </p:nvSpPr>
        <p:spPr>
          <a:xfrm>
            <a:off x="6821280" y="1463040"/>
            <a:ext cx="2029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9DD9E8"/>
                </a:solidFill>
                <a:effectLst/>
                <a:uFillTx/>
                <a:latin typeface="Calibri"/>
              </a:rPr>
              <a:t>split train / test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4" name="Image 0" descr="img_dataset.png"/>
          <p:cNvPicPr/>
          <p:nvPr/>
        </p:nvPicPr>
        <p:blipFill>
          <a:blip r:embed="rId1"/>
          <a:stretch/>
        </p:blipFill>
        <p:spPr>
          <a:xfrm>
            <a:off x="182880" y="1920240"/>
            <a:ext cx="8777880" cy="3017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B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0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0F1B35"/>
          </a:solidFill>
          <a:ln w="12700">
            <a:solidFill>
              <a:srgbClr val="0F1B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1"/>
          <p:cNvSpPr/>
          <p:nvPr/>
        </p:nvSpPr>
        <p:spPr>
          <a:xfrm>
            <a:off x="0" y="777240"/>
            <a:ext cx="9143640" cy="543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2"/>
          <p:cNvSpPr/>
          <p:nvPr/>
        </p:nvSpPr>
        <p:spPr>
          <a:xfrm>
            <a:off x="457200" y="0"/>
            <a:ext cx="82292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Choix des métriques</a:t>
            </a:r>
            <a:endParaRPr lang="fr-F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3"/>
          <p:cNvSpPr/>
          <p:nvPr/>
        </p:nvSpPr>
        <p:spPr>
          <a:xfrm>
            <a:off x="274320" y="1005840"/>
            <a:ext cx="4160160" cy="1142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2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4"/>
          <p:cNvSpPr/>
          <p:nvPr/>
        </p:nvSpPr>
        <p:spPr>
          <a:xfrm>
            <a:off x="274320" y="1005840"/>
            <a:ext cx="91080" cy="11426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5"/>
          <p:cNvSpPr/>
          <p:nvPr/>
        </p:nvSpPr>
        <p:spPr>
          <a:xfrm>
            <a:off x="457200" y="1097280"/>
            <a:ext cx="3840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B35"/>
                </a:solidFill>
                <a:effectLst/>
                <a:uFillTx/>
                <a:latin typeface="Calibri"/>
              </a:rPr>
              <a:t>F1 macro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6"/>
          <p:cNvSpPr/>
          <p:nvPr/>
        </p:nvSpPr>
        <p:spPr>
          <a:xfrm>
            <a:off x="457200" y="1463040"/>
            <a:ext cx="3840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2D5A72"/>
                </a:solidFill>
                <a:effectLst/>
                <a:uFillTx/>
                <a:latin typeface="Calibri"/>
              </a:rPr>
              <a:t>Pénalise les classes sous-représentées. Indispensable face au déséquilibre des données.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7"/>
          <p:cNvSpPr/>
          <p:nvPr/>
        </p:nvSpPr>
        <p:spPr>
          <a:xfrm>
            <a:off x="274320" y="2331720"/>
            <a:ext cx="4160160" cy="1142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2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8"/>
          <p:cNvSpPr/>
          <p:nvPr/>
        </p:nvSpPr>
        <p:spPr>
          <a:xfrm>
            <a:off x="274320" y="2331720"/>
            <a:ext cx="91080" cy="1142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9"/>
          <p:cNvSpPr/>
          <p:nvPr/>
        </p:nvSpPr>
        <p:spPr>
          <a:xfrm>
            <a:off x="457200" y="2423160"/>
            <a:ext cx="3840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B35"/>
                </a:solidFill>
                <a:effectLst/>
                <a:uFillTx/>
                <a:latin typeface="Calibri"/>
              </a:rPr>
              <a:t>Accuracy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10"/>
          <p:cNvSpPr/>
          <p:nvPr/>
        </p:nvSpPr>
        <p:spPr>
          <a:xfrm>
            <a:off x="457200" y="2788920"/>
            <a:ext cx="3840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2D5A72"/>
                </a:solidFill>
                <a:effectLst/>
                <a:uFillTx/>
                <a:latin typeface="Calibri"/>
              </a:rPr>
              <a:t>Mesure globale facile à communiquer au Product Owner (baseline intuitive).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11"/>
          <p:cNvSpPr/>
          <p:nvPr/>
        </p:nvSpPr>
        <p:spPr>
          <a:xfrm>
            <a:off x="274320" y="3657600"/>
            <a:ext cx="4160160" cy="1142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2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12"/>
          <p:cNvSpPr/>
          <p:nvPr/>
        </p:nvSpPr>
        <p:spPr>
          <a:xfrm>
            <a:off x="274320" y="3657600"/>
            <a:ext cx="91080" cy="11426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13"/>
          <p:cNvSpPr/>
          <p:nvPr/>
        </p:nvSpPr>
        <p:spPr>
          <a:xfrm>
            <a:off x="457200" y="3749040"/>
            <a:ext cx="3840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B35"/>
                </a:solidFill>
                <a:effectLst/>
                <a:uFillTx/>
                <a:latin typeface="Calibri"/>
              </a:rPr>
              <a:t>Couverture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14"/>
          <p:cNvSpPr/>
          <p:nvPr/>
        </p:nvSpPr>
        <p:spPr>
          <a:xfrm>
            <a:off x="457200" y="4114800"/>
            <a:ext cx="3840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2D5A72"/>
                </a:solidFill>
                <a:effectLst/>
                <a:uFillTx/>
                <a:latin typeface="Calibri"/>
              </a:rPr>
              <a:t>S'assure que chaque ticket reçoit une prédiction valide (100 % requis en prod).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15"/>
          <p:cNvSpPr/>
          <p:nvPr/>
        </p:nvSpPr>
        <p:spPr>
          <a:xfrm>
            <a:off x="4754880" y="1005840"/>
            <a:ext cx="4160160" cy="1142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2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16"/>
          <p:cNvSpPr/>
          <p:nvPr/>
        </p:nvSpPr>
        <p:spPr>
          <a:xfrm>
            <a:off x="4754880" y="1005840"/>
            <a:ext cx="91080" cy="11426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17"/>
          <p:cNvSpPr/>
          <p:nvPr/>
        </p:nvSpPr>
        <p:spPr>
          <a:xfrm>
            <a:off x="4937760" y="1097280"/>
            <a:ext cx="3840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B35"/>
                </a:solidFill>
                <a:effectLst/>
                <a:uFillTx/>
                <a:latin typeface="Calibri"/>
              </a:rPr>
              <a:t>Latence moy. &amp; P95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18"/>
          <p:cNvSpPr/>
          <p:nvPr/>
        </p:nvSpPr>
        <p:spPr>
          <a:xfrm>
            <a:off x="4937760" y="1463040"/>
            <a:ext cx="3840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2D5A72"/>
                </a:solidFill>
                <a:effectLst/>
                <a:uFillTx/>
                <a:latin typeface="Calibri"/>
              </a:rPr>
              <a:t>UX critique : le client voit le tag apparaître en temps réel. Cible &lt; 500 ms.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19"/>
          <p:cNvSpPr/>
          <p:nvPr/>
        </p:nvSpPr>
        <p:spPr>
          <a:xfrm>
            <a:off x="4754880" y="2331720"/>
            <a:ext cx="4160160" cy="1142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2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20"/>
          <p:cNvSpPr/>
          <p:nvPr/>
        </p:nvSpPr>
        <p:spPr>
          <a:xfrm>
            <a:off x="4754880" y="2331720"/>
            <a:ext cx="91080" cy="1142640"/>
          </a:xfrm>
          <a:prstGeom prst="rect">
            <a:avLst/>
          </a:prstGeom>
          <a:solidFill>
            <a:srgbClr val="2D5A72"/>
          </a:solidFill>
          <a:ln w="12700">
            <a:solidFill>
              <a:srgbClr val="2D5A7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21"/>
          <p:cNvSpPr/>
          <p:nvPr/>
        </p:nvSpPr>
        <p:spPr>
          <a:xfrm>
            <a:off x="4937760" y="2423160"/>
            <a:ext cx="3840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B35"/>
                </a:solidFill>
                <a:effectLst/>
                <a:uFillTx/>
                <a:latin typeface="Calibri"/>
              </a:rPr>
              <a:t>Temps d'entraînement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22"/>
          <p:cNvSpPr/>
          <p:nvPr/>
        </p:nvSpPr>
        <p:spPr>
          <a:xfrm>
            <a:off x="4937760" y="2788920"/>
            <a:ext cx="3840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2D5A72"/>
                </a:solidFill>
                <a:effectLst/>
                <a:uFillTx/>
                <a:latin typeface="Calibri"/>
              </a:rPr>
              <a:t>Indicateur de </a:t>
            </a:r>
            <a:r>
              <a:rPr lang="en-US" sz="1050" b="0" u="none" strike="noStrike">
                <a:solidFill>
                  <a:srgbClr val="2D5A72"/>
                </a:solidFill>
                <a:effectLst/>
                <a:uFillTx/>
                <a:latin typeface="Calibri"/>
              </a:rPr>
              <a:t>maintenabilité : ré-</a:t>
            </a:r>
            <a:r>
              <a:rPr lang="en-US" sz="1050" b="0" u="none" strike="noStrike">
                <a:solidFill>
                  <a:srgbClr val="2D5A72"/>
                </a:solidFill>
                <a:effectLst/>
                <a:uFillTx/>
                <a:latin typeface="Calibri"/>
              </a:rPr>
              <a:t>entraîner en cas de </a:t>
            </a:r>
            <a:r>
              <a:rPr lang="en-US" sz="1050" b="0" u="none" strike="noStrike">
                <a:solidFill>
                  <a:srgbClr val="2D5A72"/>
                </a:solidFill>
                <a:effectLst/>
                <a:uFillTx/>
                <a:latin typeface="Calibri"/>
              </a:rPr>
              <a:t>nouvelles classes.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23"/>
          <p:cNvSpPr/>
          <p:nvPr/>
        </p:nvSpPr>
        <p:spPr>
          <a:xfrm>
            <a:off x="4754880" y="3657600"/>
            <a:ext cx="4160160" cy="1142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2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24"/>
          <p:cNvSpPr/>
          <p:nvPr/>
        </p:nvSpPr>
        <p:spPr>
          <a:xfrm>
            <a:off x="4754880" y="3657600"/>
            <a:ext cx="91080" cy="11426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25"/>
          <p:cNvSpPr/>
          <p:nvPr/>
        </p:nvSpPr>
        <p:spPr>
          <a:xfrm>
            <a:off x="4937760" y="3749040"/>
            <a:ext cx="3840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B35"/>
                </a:solidFill>
                <a:effectLst/>
                <a:uFillTx/>
                <a:latin typeface="Calibri"/>
              </a:rPr>
              <a:t>Coût infra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26"/>
          <p:cNvSpPr/>
          <p:nvPr/>
        </p:nvSpPr>
        <p:spPr>
          <a:xfrm>
            <a:off x="4937760" y="4114800"/>
            <a:ext cx="3840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2D5A72"/>
                </a:solidFill>
                <a:effectLst/>
                <a:uFillTx/>
                <a:latin typeface="Calibri"/>
              </a:rPr>
              <a:t>Rentabilité à l'échelle (centaines de milliers de tickets/mois).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B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hape 0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0F1B35"/>
          </a:solidFill>
          <a:ln w="12700">
            <a:solidFill>
              <a:srgbClr val="0F1B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1"/>
          <p:cNvSpPr/>
          <p:nvPr/>
        </p:nvSpPr>
        <p:spPr>
          <a:xfrm>
            <a:off x="0" y="777240"/>
            <a:ext cx="9143640" cy="543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2"/>
          <p:cNvSpPr/>
          <p:nvPr/>
        </p:nvSpPr>
        <p:spPr>
          <a:xfrm>
            <a:off x="457200" y="0"/>
            <a:ext cx="82292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Approche LLM — Comparaison des prompts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3"/>
          <p:cNvSpPr/>
          <p:nvPr/>
        </p:nvSpPr>
        <p:spPr>
          <a:xfrm>
            <a:off x="274320" y="914400"/>
            <a:ext cx="8595000" cy="383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4"/>
          <p:cNvSpPr/>
          <p:nvPr/>
        </p:nvSpPr>
        <p:spPr>
          <a:xfrm>
            <a:off x="274320" y="914400"/>
            <a:ext cx="85950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9DD9E8"/>
                </a:solidFill>
                <a:effectLst/>
                <a:uFillTx/>
                <a:latin typeface="Calibri"/>
              </a:rPr>
              <a:t>Modèle : Intel/Qwen3.5-122B-A10B-int4-AutoRound  ·  Infra : NVIDIA DGX Spark (vLLM / SGLang)  ·  Échantillon : 100 tickets stratifiés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87" name="Table 0"/>
          <p:cNvGraphicFramePr/>
          <p:nvPr/>
        </p:nvGraphicFramePr>
        <p:xfrm>
          <a:off x="274320" y="1417320"/>
          <a:ext cx="8412120" cy="2907360"/>
        </p:xfrm>
        <a:graphic>
          <a:graphicData uri="http://schemas.openxmlformats.org/drawingml/2006/table">
            <a:tbl>
              <a:tblPr/>
              <a:tblGrid>
                <a:gridCol w="1463040"/>
                <a:gridCol w="3200400"/>
                <a:gridCol w="914400"/>
                <a:gridCol w="914400"/>
                <a:gridCol w="1051560"/>
                <a:gridCol w="868680"/>
              </a:tblGrid>
              <a:tr h="48456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Variante</a:t>
                      </a:r>
                      <a:endParaRPr lang="fr-F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Stratégie</a:t>
                      </a:r>
                      <a:endParaRPr lang="fr-F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Accuracy</a:t>
                      </a:r>
                      <a:endParaRPr lang="fr-F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F1 Macro</a:t>
                      </a:r>
                      <a:endParaRPr lang="fr-F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F1 Weighted</a:t>
                      </a:r>
                      <a:endParaRPr lang="fr-F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Latence (s)</a:t>
                      </a:r>
                      <a:endParaRPr lang="fr-F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1C7293"/>
                    </a:solidFill>
                  </a:tcPr>
                </a:tc>
              </a:tr>
              <a:tr h="4845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1C7293"/>
                          </a:solidFill>
                          <a:effectLst/>
                          <a:uFillTx/>
                          <a:latin typeface="Calibri"/>
                        </a:rPr>
                        <a:t>v5_expert_persona ⭐</a:t>
                      </a:r>
                      <a:endParaRPr lang="fr-F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E8F7F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Persona CFPB + few-shot + descriptions</a:t>
                      </a:r>
                      <a:endParaRPr lang="fr-F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E8F7F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0.800</a:t>
                      </a:r>
                      <a:endParaRPr lang="fr-F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E8F7F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0.5689</a:t>
                      </a:r>
                      <a:endParaRPr lang="fr-F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E8F7F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0.7973</a:t>
                      </a:r>
                      <a:endParaRPr lang="fr-F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E8F7F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107.9</a:t>
                      </a:r>
                      <a:endParaRPr lang="fr-F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E8F7F4"/>
                    </a:solidFill>
                  </a:tcPr>
                </a:tc>
              </a:tr>
              <a:tr h="4845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v1_baseline</a:t>
                      </a:r>
                      <a:endParaRPr lang="fr-F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Rôle + tâche + few-shot + descriptions</a:t>
                      </a:r>
                      <a:endParaRPr lang="fr-F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0.780</a:t>
                      </a:r>
                      <a:endParaRPr lang="fr-F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0.5547</a:t>
                      </a:r>
                      <a:endParaRPr lang="fr-F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0.7814</a:t>
                      </a:r>
                      <a:endParaRPr lang="fr-F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105.8</a:t>
                      </a:r>
                      <a:endParaRPr lang="fr-F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2F8FC"/>
                    </a:solidFill>
                  </a:tcPr>
                </a:tc>
              </a:tr>
              <a:tr h="4845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v3_structured_json</a:t>
                      </a:r>
                      <a:endParaRPr lang="fr-F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Sortie JSON structurée + descriptions</a:t>
                      </a:r>
                      <a:endParaRPr lang="fr-F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0.760</a:t>
                      </a:r>
                      <a:endParaRPr lang="fr-F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0.5495</a:t>
                      </a:r>
                      <a:endParaRPr lang="fr-F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0.7585</a:t>
                      </a:r>
                      <a:endParaRPr lang="fr-F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63.4</a:t>
                      </a:r>
                      <a:endParaRPr lang="fr-F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45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v4_cot_brief</a:t>
                      </a:r>
                      <a:endParaRPr lang="fr-F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Chain-of-thought court + descriptions</a:t>
                      </a:r>
                      <a:endParaRPr lang="fr-F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0.760</a:t>
                      </a:r>
                      <a:endParaRPr lang="fr-F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0.5429</a:t>
                      </a:r>
                      <a:endParaRPr lang="fr-F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0.7554</a:t>
                      </a:r>
                      <a:endParaRPr lang="fr-F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45.8</a:t>
                      </a:r>
                      <a:endParaRPr lang="fr-F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2F8FC"/>
                    </a:solidFill>
                  </a:tcPr>
                </a:tc>
              </a:tr>
              <a:tr h="4845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v2_minimal</a:t>
                      </a:r>
                      <a:endParaRPr lang="fr-F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Zero-shot minimal, labels seuls</a:t>
                      </a:r>
                      <a:endParaRPr lang="fr-F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0.740</a:t>
                      </a:r>
                      <a:endParaRPr lang="fr-F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0.5092</a:t>
                      </a:r>
                      <a:endParaRPr lang="fr-F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0.7375</a:t>
                      </a:r>
                      <a:endParaRPr lang="fr-F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34.3</a:t>
                      </a:r>
                      <a:endParaRPr lang="fr-F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8" name="Text 5"/>
          <p:cNvSpPr/>
          <p:nvPr/>
        </p:nvSpPr>
        <p:spPr>
          <a:xfrm>
            <a:off x="274320" y="4434840"/>
            <a:ext cx="8595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1C7293"/>
                </a:solidFill>
                <a:effectLst/>
                <a:uFillTx/>
                <a:latin typeface="Calibri"/>
              </a:rPr>
              <a:t>⭐ Meilleur prompt retenu pour l'évaluation finale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B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hape 0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0F1B35"/>
          </a:solidFill>
          <a:ln w="12700">
            <a:solidFill>
              <a:srgbClr val="0F1B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1"/>
          <p:cNvSpPr/>
          <p:nvPr/>
        </p:nvSpPr>
        <p:spPr>
          <a:xfrm>
            <a:off x="0" y="777240"/>
            <a:ext cx="9143640" cy="543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2"/>
          <p:cNvSpPr/>
          <p:nvPr/>
        </p:nvSpPr>
        <p:spPr>
          <a:xfrm>
            <a:off x="457200" y="0"/>
            <a:ext cx="82292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Approche LLM — Performance &amp; latence (v5_expert_persona)</a:t>
            </a:r>
            <a:endParaRPr lang="fr-F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3"/>
          <p:cNvSpPr/>
          <p:nvPr/>
        </p:nvSpPr>
        <p:spPr>
          <a:xfrm>
            <a:off x="274320" y="1005840"/>
            <a:ext cx="1965600" cy="1005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4"/>
          <p:cNvSpPr/>
          <p:nvPr/>
        </p:nvSpPr>
        <p:spPr>
          <a:xfrm>
            <a:off x="274320" y="1051560"/>
            <a:ext cx="1965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b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80.4 %</a:t>
            </a:r>
            <a:endParaRPr lang="fr-F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5"/>
          <p:cNvSpPr/>
          <p:nvPr/>
        </p:nvSpPr>
        <p:spPr>
          <a:xfrm>
            <a:off x="274320" y="1600200"/>
            <a:ext cx="1965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Accuracy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6"/>
          <p:cNvSpPr/>
          <p:nvPr/>
        </p:nvSpPr>
        <p:spPr>
          <a:xfrm>
            <a:off x="2423160" y="1005840"/>
            <a:ext cx="1965600" cy="1005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7"/>
          <p:cNvSpPr/>
          <p:nvPr/>
        </p:nvSpPr>
        <p:spPr>
          <a:xfrm>
            <a:off x="2423160" y="1051560"/>
            <a:ext cx="1965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b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0.634</a:t>
            </a:r>
            <a:endParaRPr lang="fr-F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8"/>
          <p:cNvSpPr/>
          <p:nvPr/>
        </p:nvSpPr>
        <p:spPr>
          <a:xfrm>
            <a:off x="2423160" y="1600200"/>
            <a:ext cx="1965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F1 Macro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9"/>
          <p:cNvSpPr/>
          <p:nvPr/>
        </p:nvSpPr>
        <p:spPr>
          <a:xfrm>
            <a:off x="274320" y="2194560"/>
            <a:ext cx="1965600" cy="10054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10"/>
          <p:cNvSpPr/>
          <p:nvPr/>
        </p:nvSpPr>
        <p:spPr>
          <a:xfrm>
            <a:off x="274320" y="2240280"/>
            <a:ext cx="1965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b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2 146 ms</a:t>
            </a:r>
            <a:endParaRPr lang="fr-F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11"/>
          <p:cNvSpPr/>
          <p:nvPr/>
        </p:nvSpPr>
        <p:spPr>
          <a:xfrm>
            <a:off x="274320" y="2788920"/>
            <a:ext cx="1965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Latence moyenne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12"/>
          <p:cNvSpPr/>
          <p:nvPr/>
        </p:nvSpPr>
        <p:spPr>
          <a:xfrm>
            <a:off x="2423160" y="2194560"/>
            <a:ext cx="1965600" cy="10054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13"/>
          <p:cNvSpPr/>
          <p:nvPr/>
        </p:nvSpPr>
        <p:spPr>
          <a:xfrm>
            <a:off x="2423160" y="2240280"/>
            <a:ext cx="1965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b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0.9 t/s</a:t>
            </a:r>
            <a:endParaRPr lang="fr-F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14"/>
          <p:cNvSpPr/>
          <p:nvPr/>
        </p:nvSpPr>
        <p:spPr>
          <a:xfrm>
            <a:off x="2423160" y="2788920"/>
            <a:ext cx="1965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Débit (2 workers)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15"/>
          <p:cNvSpPr/>
          <p:nvPr/>
        </p:nvSpPr>
        <p:spPr>
          <a:xfrm>
            <a:off x="274320" y="3474720"/>
            <a:ext cx="4114440" cy="822600"/>
          </a:xfrm>
          <a:prstGeom prst="rect">
            <a:avLst/>
          </a:prstGeom>
          <a:solidFill>
            <a:srgbClr val="FFF3E0"/>
          </a:solidFill>
          <a:ln w="19050">
            <a:solidFill>
              <a:srgbClr val="F4A2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16"/>
          <p:cNvSpPr/>
          <p:nvPr/>
        </p:nvSpPr>
        <p:spPr>
          <a:xfrm>
            <a:off x="411480" y="3493080"/>
            <a:ext cx="384012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F1B35"/>
                </a:solidFill>
                <a:effectLst/>
                <a:uFillTx/>
                <a:latin typeface="Calibri"/>
              </a:rPr>
              <a:t>⚠ Projection dataset complet : </a:t>
            </a:r>
            <a:r>
              <a:rPr lang="en-US" sz="1000" b="0" u="none" strike="noStrike">
                <a:solidFill>
                  <a:srgbClr val="0F1B35"/>
                </a:solidFill>
                <a:effectLst/>
                <a:uFillTx/>
                <a:latin typeface="Calibri"/>
              </a:rPr>
              <a:t>~114h pour 383 564 tickets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0F1B35"/>
                </a:solidFill>
                <a:effectLst/>
                <a:uFillTx/>
                <a:latin typeface="Calibri"/>
              </a:rPr>
              <a:t>(2 workers parallèles)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17"/>
          <p:cNvSpPr/>
          <p:nvPr/>
        </p:nvSpPr>
        <p:spPr>
          <a:xfrm>
            <a:off x="4572000" y="4389120"/>
            <a:ext cx="4343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i="1" u="none" strike="noStrike">
                <a:solidFill>
                  <a:srgbClr val="6BA4BF"/>
                </a:solidFill>
                <a:effectLst/>
                <a:uFillTx/>
                <a:latin typeface="Calibri"/>
              </a:rPr>
              <a:t>Débit &amp; distribution latence — DGX Spark (vLLM)</a:t>
            </a:r>
            <a:endParaRPr lang="fr-F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7" name=""/>
          <p:cNvPicPr/>
          <p:nvPr/>
        </p:nvPicPr>
        <p:blipFill>
          <a:blip r:embed="rId1"/>
          <a:srcRect l="66949" t="0" r="0" b="0"/>
          <a:stretch/>
        </p:blipFill>
        <p:spPr>
          <a:xfrm>
            <a:off x="5760000" y="2478600"/>
            <a:ext cx="2160000" cy="1424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8" name=""/>
          <p:cNvPicPr/>
          <p:nvPr/>
        </p:nvPicPr>
        <p:blipFill>
          <a:blip r:embed="rId2"/>
          <a:srcRect l="33062" t="0" r="33469" b="0"/>
          <a:stretch/>
        </p:blipFill>
        <p:spPr>
          <a:xfrm rot="600">
            <a:off x="5760000" y="933840"/>
            <a:ext cx="2159640" cy="1405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B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0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0F1B35"/>
          </a:solidFill>
          <a:ln w="12700">
            <a:solidFill>
              <a:srgbClr val="0F1B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1"/>
          <p:cNvSpPr/>
          <p:nvPr/>
        </p:nvSpPr>
        <p:spPr>
          <a:xfrm>
            <a:off x="0" y="777240"/>
            <a:ext cx="9143640" cy="543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2"/>
          <p:cNvSpPr/>
          <p:nvPr/>
        </p:nvSpPr>
        <p:spPr>
          <a:xfrm>
            <a:off x="457200" y="0"/>
            <a:ext cx="82292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Approche ML — Résultats comparatifs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3"/>
          <p:cNvSpPr/>
          <p:nvPr/>
        </p:nvSpPr>
        <p:spPr>
          <a:xfrm>
            <a:off x="274320" y="914400"/>
            <a:ext cx="8595000" cy="365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4"/>
          <p:cNvSpPr/>
          <p:nvPr/>
        </p:nvSpPr>
        <p:spPr>
          <a:xfrm>
            <a:off x="274320" y="914400"/>
            <a:ext cx="8595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9DD9E8"/>
                </a:solidFill>
                <a:effectLst/>
                <a:uFillTx/>
                <a:latin typeface="Calibri"/>
              </a:rPr>
              <a:t>Vectorisation : TF-IDF (max_features=30 000, ngram 1-2)  ·  Split 80/20 stratifié  ·  76 713 tickets en test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14" name="Table 0"/>
          <p:cNvGraphicFramePr/>
          <p:nvPr/>
        </p:nvGraphicFramePr>
        <p:xfrm>
          <a:off x="274320" y="1417320"/>
          <a:ext cx="8412120" cy="2377080"/>
        </p:xfrm>
        <a:graphic>
          <a:graphicData uri="http://schemas.openxmlformats.org/drawingml/2006/table">
            <a:tbl>
              <a:tblPr/>
              <a:tblGrid>
                <a:gridCol w="2743200"/>
                <a:gridCol w="868680"/>
                <a:gridCol w="868680"/>
                <a:gridCol w="1097280"/>
                <a:gridCol w="731520"/>
                <a:gridCol w="914400"/>
                <a:gridCol w="1188720"/>
              </a:tblGrid>
              <a:tr h="4752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Modèle</a:t>
                      </a:r>
                      <a:endParaRPr lang="fr-FR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Acc. train</a:t>
                      </a:r>
                      <a:endParaRPr lang="fr-FR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Acc. test</a:t>
                      </a:r>
                      <a:endParaRPr lang="fr-FR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F1 macro test</a:t>
                      </a:r>
                      <a:endParaRPr lang="fr-FR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Gap F1</a:t>
                      </a:r>
                      <a:endParaRPr lang="fr-FR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Train time</a:t>
                      </a:r>
                      <a:endParaRPr lang="fr-FR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Lat. moy.</a:t>
                      </a:r>
                      <a:endParaRPr lang="fr-FR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1C7293"/>
                    </a:solidFill>
                  </a:tcPr>
                </a:tc>
              </a:tr>
              <a:tr h="4752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1" u="none" strike="noStrike">
                          <a:solidFill>
                            <a:srgbClr val="1C7293"/>
                          </a:solidFill>
                          <a:effectLst/>
                          <a:uFillTx/>
                          <a:latin typeface="Calibri"/>
                        </a:rPr>
                        <a:t>SGDClassifier (early_stopping) ⭐</a:t>
                      </a:r>
                      <a:endParaRPr lang="fr-FR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E8F7F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0.8315</a:t>
                      </a:r>
                      <a:endParaRPr lang="fr-FR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E8F7F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0.8281</a:t>
                      </a:r>
                      <a:endParaRPr lang="fr-FR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E8F7F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0.6854</a:t>
                      </a:r>
                      <a:endParaRPr lang="fr-FR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E8F7F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0.034</a:t>
                      </a:r>
                      <a:endParaRPr lang="fr-FR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E8F7F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18.8 s</a:t>
                      </a:r>
                      <a:endParaRPr lang="fr-FR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E8F7F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0.23 ms</a:t>
                      </a:r>
                      <a:endParaRPr lang="fr-FR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E8F7F4"/>
                    </a:solidFill>
                  </a:tcPr>
                </a:tc>
              </a:tr>
              <a:tr h="4752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LinearSVC (C=0.01, balanced)</a:t>
                      </a:r>
                      <a:endParaRPr lang="fr-FR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0.8299</a:t>
                      </a:r>
                      <a:endParaRPr lang="fr-FR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0.8238</a:t>
                      </a:r>
                      <a:endParaRPr lang="fr-FR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0.6743</a:t>
                      </a:r>
                      <a:endParaRPr lang="fr-FR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0.047</a:t>
                      </a:r>
                      <a:endParaRPr lang="fr-FR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73.7 s</a:t>
                      </a:r>
                      <a:endParaRPr lang="fr-FR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0.06 ms</a:t>
                      </a:r>
                      <a:endParaRPr lang="fr-FR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2F8FC"/>
                    </a:solidFill>
                  </a:tcPr>
                </a:tc>
              </a:tr>
              <a:tr h="4752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ComplementNB</a:t>
                      </a:r>
                      <a:endParaRPr lang="fr-FR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0.7946</a:t>
                      </a:r>
                      <a:endParaRPr lang="fr-FR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0.7949</a:t>
                      </a:r>
                      <a:endParaRPr lang="fr-FR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0.5404</a:t>
                      </a:r>
                      <a:endParaRPr lang="fr-FR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0.002</a:t>
                      </a:r>
                      <a:endParaRPr lang="fr-FR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0.33 s</a:t>
                      </a:r>
                      <a:endParaRPr lang="fr-FR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0.22 ms</a:t>
                      </a:r>
                      <a:endParaRPr lang="fr-FR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2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DummyClassifier (most_frequent)</a:t>
                      </a:r>
                      <a:endParaRPr lang="fr-FR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0.3232</a:t>
                      </a:r>
                      <a:endParaRPr lang="fr-FR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0.3232</a:t>
                      </a:r>
                      <a:endParaRPr lang="fr-FR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0.0444</a:t>
                      </a:r>
                      <a:endParaRPr lang="fr-FR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0.000</a:t>
                      </a:r>
                      <a:endParaRPr lang="fr-FR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&lt; 0.1 s</a:t>
                      </a:r>
                      <a:endParaRPr lang="fr-FR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0.02 ms</a:t>
                      </a:r>
                      <a:endParaRPr lang="fr-FR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2F8FC"/>
                    </a:solidFill>
                  </a:tcPr>
                </a:tc>
              </a:tr>
            </a:tbl>
          </a:graphicData>
        </a:graphic>
      </p:graphicFrame>
      <p:sp>
        <p:nvSpPr>
          <p:cNvPr id="115" name="Shape 5"/>
          <p:cNvSpPr/>
          <p:nvPr/>
        </p:nvSpPr>
        <p:spPr>
          <a:xfrm>
            <a:off x="274320" y="3977640"/>
            <a:ext cx="2697120" cy="7768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6"/>
          <p:cNvSpPr/>
          <p:nvPr/>
        </p:nvSpPr>
        <p:spPr>
          <a:xfrm>
            <a:off x="274320" y="3977640"/>
            <a:ext cx="26971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b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0.6854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7"/>
          <p:cNvSpPr/>
          <p:nvPr/>
        </p:nvSpPr>
        <p:spPr>
          <a:xfrm>
            <a:off x="274320" y="4416480"/>
            <a:ext cx="2697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F1 Macro (SGD)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8"/>
          <p:cNvSpPr/>
          <p:nvPr/>
        </p:nvSpPr>
        <p:spPr>
          <a:xfrm>
            <a:off x="3154680" y="3977640"/>
            <a:ext cx="2697120" cy="7768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9"/>
          <p:cNvSpPr/>
          <p:nvPr/>
        </p:nvSpPr>
        <p:spPr>
          <a:xfrm>
            <a:off x="3154680" y="3977640"/>
            <a:ext cx="26971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b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&lt; 1 ms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10"/>
          <p:cNvSpPr/>
          <p:nvPr/>
        </p:nvSpPr>
        <p:spPr>
          <a:xfrm>
            <a:off x="3154680" y="4416480"/>
            <a:ext cx="2697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Latence moyenne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11"/>
          <p:cNvSpPr/>
          <p:nvPr/>
        </p:nvSpPr>
        <p:spPr>
          <a:xfrm>
            <a:off x="6035040" y="3977640"/>
            <a:ext cx="2697120" cy="7768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12"/>
          <p:cNvSpPr/>
          <p:nvPr/>
        </p:nvSpPr>
        <p:spPr>
          <a:xfrm>
            <a:off x="6035040" y="3977640"/>
            <a:ext cx="26971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b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CPU only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13"/>
          <p:cNvSpPr/>
          <p:nvPr/>
        </p:nvSpPr>
        <p:spPr>
          <a:xfrm>
            <a:off x="6035040" y="4416480"/>
            <a:ext cx="2697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Infra requise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14"/>
          <p:cNvSpPr/>
          <p:nvPr/>
        </p:nvSpPr>
        <p:spPr>
          <a:xfrm>
            <a:off x="274320" y="4800600"/>
            <a:ext cx="8595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1C7293"/>
                </a:solidFill>
                <a:effectLst/>
                <a:uFillTx/>
                <a:latin typeface="Calibri"/>
              </a:rPr>
              <a:t>⭐ SGDClassifier </a:t>
            </a:r>
            <a:r>
              <a:rPr lang="en-US" sz="1000" b="0" i="1" u="none" strike="noStrike">
                <a:solidFill>
                  <a:srgbClr val="1C7293"/>
                </a:solidFill>
                <a:effectLst/>
                <a:uFillTx/>
                <a:latin typeface="Calibri"/>
              </a:rPr>
              <a:t>retenu : meilleur </a:t>
            </a:r>
            <a:r>
              <a:rPr lang="en-US" sz="1000" b="0" i="1" u="none" strike="noStrike">
                <a:solidFill>
                  <a:srgbClr val="1C7293"/>
                </a:solidFill>
                <a:effectLst/>
                <a:uFillTx/>
                <a:latin typeface="Calibri"/>
              </a:rPr>
              <a:t>compromis F1 / </a:t>
            </a:r>
            <a:r>
              <a:rPr lang="en-US" sz="1000" b="0" i="1" u="none" strike="noStrike">
                <a:solidFill>
                  <a:srgbClr val="1C7293"/>
                </a:solidFill>
                <a:effectLst/>
                <a:uFillTx/>
                <a:latin typeface="Calibri"/>
              </a:rPr>
              <a:t>latence / stabilité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B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0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0F1B35"/>
          </a:solidFill>
          <a:ln w="12700">
            <a:solidFill>
              <a:srgbClr val="0F1B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1"/>
          <p:cNvSpPr/>
          <p:nvPr/>
        </p:nvSpPr>
        <p:spPr>
          <a:xfrm>
            <a:off x="0" y="777240"/>
            <a:ext cx="9143640" cy="543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2"/>
          <p:cNvSpPr/>
          <p:nvPr/>
        </p:nvSpPr>
        <p:spPr>
          <a:xfrm>
            <a:off x="457200" y="0"/>
            <a:ext cx="82292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LLM vs Machine Learning — Comparaison directe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28" name="Table 0"/>
          <p:cNvGraphicFramePr/>
          <p:nvPr/>
        </p:nvGraphicFramePr>
        <p:xfrm>
          <a:off x="274320" y="960120"/>
          <a:ext cx="8412120" cy="3620520"/>
        </p:xfrm>
        <a:graphic>
          <a:graphicData uri="http://schemas.openxmlformats.org/drawingml/2006/table">
            <a:tbl>
              <a:tblPr/>
              <a:tblGrid>
                <a:gridCol w="2560320"/>
                <a:gridCol w="2377440"/>
                <a:gridCol w="2377440"/>
                <a:gridCol w="1097280"/>
              </a:tblGrid>
              <a:tr h="4021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Critère</a:t>
                      </a:r>
                      <a:endParaRPr lang="fr-F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0F1B3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LLM (Qwen3.5-122B)</a:t>
                      </a:r>
                      <a:endParaRPr lang="fr-F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ML (SGDClassifier)</a:t>
                      </a:r>
                      <a:endParaRPr lang="fr-F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Avantage</a:t>
                      </a:r>
                      <a:endParaRPr lang="fr-F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0F1B35"/>
                    </a:solidFill>
                  </a:tcPr>
                </a:tc>
              </a:tr>
              <a:tr h="4021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Accuracy (test)</a:t>
                      </a:r>
                      <a:endParaRPr lang="fr-F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80.4 %</a:t>
                      </a:r>
                      <a:endParaRPr lang="fr-F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82.8 %</a:t>
                      </a:r>
                      <a:endParaRPr lang="fr-F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1C7293"/>
                          </a:solidFill>
                          <a:effectLst/>
                          <a:uFillTx/>
                          <a:latin typeface="Calibri"/>
                        </a:rPr>
                        <a:t>ML ✓</a:t>
                      </a:r>
                      <a:endParaRPr lang="fr-F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1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F1 Macro (test)</a:t>
                      </a:r>
                      <a:endParaRPr lang="fr-F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0.634</a:t>
                      </a:r>
                      <a:endParaRPr lang="fr-F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0.685</a:t>
                      </a:r>
                      <a:endParaRPr lang="fr-F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1C7293"/>
                          </a:solidFill>
                          <a:effectLst/>
                          <a:uFillTx/>
                          <a:latin typeface="Calibri"/>
                        </a:rPr>
                        <a:t>ML ✓</a:t>
                      </a:r>
                      <a:endParaRPr lang="fr-F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2F8FC"/>
                    </a:solidFill>
                  </a:tcPr>
                </a:tc>
              </a:tr>
              <a:tr h="4021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Latence moyenne</a:t>
                      </a:r>
                      <a:endParaRPr lang="fr-F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2 146 ms</a:t>
                      </a:r>
                      <a:endParaRPr lang="fr-F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0.23 ms</a:t>
                      </a:r>
                      <a:endParaRPr lang="fr-F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1C7293"/>
                          </a:solidFill>
                          <a:effectLst/>
                          <a:uFillTx/>
                          <a:latin typeface="Calibri"/>
                        </a:rPr>
                        <a:t>ML ✓</a:t>
                      </a:r>
                      <a:endParaRPr lang="fr-F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1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Débit</a:t>
                      </a:r>
                      <a:endParaRPr lang="fr-F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0.9 t/s</a:t>
                      </a:r>
                      <a:endParaRPr lang="fr-F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~4 349 t/s</a:t>
                      </a:r>
                      <a:endParaRPr lang="fr-F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1C7293"/>
                          </a:solidFill>
                          <a:effectLst/>
                          <a:uFillTx/>
                          <a:latin typeface="Calibri"/>
                        </a:rPr>
                        <a:t>ML ✓</a:t>
                      </a:r>
                      <a:endParaRPr lang="fr-F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2F8FC"/>
                    </a:solidFill>
                  </a:tcPr>
                </a:tc>
              </a:tr>
              <a:tr h="4021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Infra requise</a:t>
                      </a:r>
                      <a:endParaRPr lang="fr-F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GPU (DGX Spark)</a:t>
                      </a:r>
                      <a:endParaRPr lang="fr-F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CPU seul</a:t>
                      </a:r>
                      <a:endParaRPr lang="fr-F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1C7293"/>
                          </a:solidFill>
                          <a:effectLst/>
                          <a:uFillTx/>
                          <a:latin typeface="Calibri"/>
                        </a:rPr>
                        <a:t>ML ✓</a:t>
                      </a:r>
                      <a:endParaRPr lang="fr-F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1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Données labellisées</a:t>
                      </a:r>
                      <a:endParaRPr lang="fr-F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0 (zero-shot)</a:t>
                      </a:r>
                      <a:endParaRPr lang="fr-F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Oui (80% train)</a:t>
                      </a:r>
                      <a:endParaRPr lang="fr-F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065A82"/>
                          </a:solidFill>
                          <a:effectLst/>
                          <a:uFillTx/>
                          <a:latin typeface="Calibri"/>
                        </a:rPr>
                        <a:t>LLM ✓</a:t>
                      </a:r>
                      <a:endParaRPr lang="fr-F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2F8FC"/>
                    </a:solidFill>
                  </a:tcPr>
                </a:tc>
              </a:tr>
              <a:tr h="4021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Ajout de nouvelles classes</a:t>
                      </a:r>
                      <a:endParaRPr lang="fr-F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Modifier le prompt</a:t>
                      </a:r>
                      <a:endParaRPr lang="fr-F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Ré-entraîner le modèle</a:t>
                      </a:r>
                      <a:endParaRPr lang="fr-F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065A82"/>
                          </a:solidFill>
                          <a:effectLst/>
                          <a:uFillTx/>
                          <a:latin typeface="Calibri"/>
                        </a:rPr>
                        <a:t>LLM ✓</a:t>
                      </a:r>
                      <a:endParaRPr lang="fr-F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1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Projection 383k tickets</a:t>
                      </a:r>
                      <a:endParaRPr lang="fr-F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~114 heures</a:t>
                      </a:r>
                      <a:endParaRPr lang="fr-F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&lt; 1 seconde</a:t>
                      </a:r>
                      <a:endParaRPr lang="fr-F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1C7293"/>
                          </a:solidFill>
                          <a:effectLst/>
                          <a:uFillTx/>
                          <a:latin typeface="Calibri"/>
                        </a:rPr>
                        <a:t>ML ✓</a:t>
                      </a:r>
                      <a:endParaRPr lang="fr-F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2F8FC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B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Shape 0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0F1B35"/>
          </a:solidFill>
          <a:ln w="12700">
            <a:solidFill>
              <a:srgbClr val="0F1B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1"/>
          <p:cNvSpPr/>
          <p:nvPr/>
        </p:nvSpPr>
        <p:spPr>
          <a:xfrm>
            <a:off x="0" y="777240"/>
            <a:ext cx="9143640" cy="543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2"/>
          <p:cNvSpPr/>
          <p:nvPr/>
        </p:nvSpPr>
        <p:spPr>
          <a:xfrm>
            <a:off x="457200" y="0"/>
            <a:ext cx="82292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Avantages &amp; inconvénients de chaque approche</a:t>
            </a:r>
            <a:endParaRPr lang="fr-F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3"/>
          <p:cNvSpPr/>
          <p:nvPr/>
        </p:nvSpPr>
        <p:spPr>
          <a:xfrm>
            <a:off x="274320" y="960120"/>
            <a:ext cx="4023000" cy="411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4"/>
          <p:cNvSpPr/>
          <p:nvPr/>
        </p:nvSpPr>
        <p:spPr>
          <a:xfrm>
            <a:off x="274320" y="960120"/>
            <a:ext cx="40230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🤖  LLM (Qwen3.5-122B)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5"/>
          <p:cNvSpPr/>
          <p:nvPr/>
        </p:nvSpPr>
        <p:spPr>
          <a:xfrm>
            <a:off x="274320" y="1463040"/>
            <a:ext cx="4023000" cy="27396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6"/>
          <p:cNvSpPr/>
          <p:nvPr/>
        </p:nvSpPr>
        <p:spPr>
          <a:xfrm>
            <a:off x="365760" y="1463040"/>
            <a:ext cx="3840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2E7D32"/>
                </a:solidFill>
                <a:effectLst/>
                <a:uFillTx/>
                <a:latin typeface="Calibri"/>
              </a:rPr>
              <a:t>✅ Avantages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7"/>
          <p:cNvSpPr/>
          <p:nvPr/>
        </p:nvSpPr>
        <p:spPr>
          <a:xfrm>
            <a:off x="365760" y="1783080"/>
            <a:ext cx="37486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0F1B35"/>
              </a:buClr>
              <a:buFont typeface="Symbol" charset="2"/>
              <a:buChar char=""/>
            </a:pPr>
            <a:r>
              <a:rPr lang="en-US" sz="1000" b="0" u="none" strike="noStrike">
                <a:solidFill>
                  <a:srgbClr val="0F1B35"/>
                </a:solidFill>
                <a:effectLst/>
                <a:uFillTx/>
                <a:latin typeface="Calibri"/>
              </a:rPr>
              <a:t>Zero-shot : aucune donnée labellisée requise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F1B35"/>
              </a:buClr>
              <a:buFont typeface="Symbol" charset="2"/>
              <a:buChar char=""/>
            </a:pPr>
            <a:r>
              <a:rPr lang="en-US" sz="1000" b="0" u="none" strike="noStrike">
                <a:solidFill>
                  <a:srgbClr val="0F1B35"/>
                </a:solidFill>
                <a:effectLst/>
                <a:uFillTx/>
                <a:latin typeface="Calibri"/>
              </a:rPr>
              <a:t>Adaptation instantanée à de nouvelles classes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F1B35"/>
              </a:buClr>
              <a:buFont typeface="Symbol" charset="2"/>
              <a:buChar char=""/>
            </a:pPr>
            <a:r>
              <a:rPr lang="en-US" sz="1000" b="0" u="none" strike="noStrike">
                <a:solidFill>
                  <a:srgbClr val="0F1B35"/>
                </a:solidFill>
                <a:effectLst/>
                <a:uFillTx/>
                <a:latin typeface="Calibri"/>
              </a:rPr>
              <a:t>Généralisation sur des formulations inattendues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8"/>
          <p:cNvSpPr/>
          <p:nvPr/>
        </p:nvSpPr>
        <p:spPr>
          <a:xfrm>
            <a:off x="274320" y="2743200"/>
            <a:ext cx="4023000" cy="273960"/>
          </a:xfrm>
          <a:prstGeom prst="rect">
            <a:avLst/>
          </a:prstGeom>
          <a:solidFill>
            <a:srgbClr val="FFEBEE"/>
          </a:solidFill>
          <a:ln w="12700">
            <a:solidFill>
              <a:srgbClr val="EF9A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9"/>
          <p:cNvSpPr/>
          <p:nvPr/>
        </p:nvSpPr>
        <p:spPr>
          <a:xfrm>
            <a:off x="365760" y="2743200"/>
            <a:ext cx="3840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C62828"/>
                </a:solidFill>
                <a:effectLst/>
                <a:uFillTx/>
                <a:latin typeface="Calibri"/>
              </a:rPr>
              <a:t>❌ Inconvénients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10"/>
          <p:cNvSpPr/>
          <p:nvPr/>
        </p:nvSpPr>
        <p:spPr>
          <a:xfrm>
            <a:off x="365760" y="3063240"/>
            <a:ext cx="37486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0F1B35"/>
              </a:buClr>
              <a:buFont typeface="Symbol" charset="2"/>
              <a:buChar char=""/>
            </a:pPr>
            <a:r>
              <a:rPr lang="en-US" sz="1000" b="0" u="none" strike="noStrike">
                <a:solidFill>
                  <a:srgbClr val="0F1B35"/>
                </a:solidFill>
                <a:effectLst/>
                <a:uFillTx/>
                <a:latin typeface="Calibri"/>
              </a:rPr>
              <a:t>Latence ~2 000 ms — hors cible UX temps réel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F1B35"/>
              </a:buClr>
              <a:buFont typeface="Symbol" charset="2"/>
              <a:buChar char=""/>
            </a:pPr>
            <a:r>
              <a:rPr lang="en-US" sz="1000" b="0" u="none" strike="noStrike">
                <a:solidFill>
                  <a:srgbClr val="0F1B35"/>
                </a:solidFill>
                <a:effectLst/>
                <a:uFillTx/>
                <a:latin typeface="Calibri"/>
              </a:rPr>
              <a:t>Coût GPU prohibitif à grande échelle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F1B35"/>
              </a:buClr>
              <a:buFont typeface="Symbol" charset="2"/>
              <a:buChar char=""/>
            </a:pPr>
            <a:r>
              <a:rPr lang="en-US" sz="1000" b="0" u="none" strike="noStrike">
                <a:solidFill>
                  <a:srgbClr val="0F1B35"/>
                </a:solidFill>
                <a:effectLst/>
                <a:uFillTx/>
                <a:latin typeface="Calibri"/>
              </a:rPr>
              <a:t>Score F1 macro inférieur au ML sur données équilibrées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11"/>
          <p:cNvSpPr/>
          <p:nvPr/>
        </p:nvSpPr>
        <p:spPr>
          <a:xfrm>
            <a:off x="4846320" y="960120"/>
            <a:ext cx="4023000" cy="4111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12"/>
          <p:cNvSpPr/>
          <p:nvPr/>
        </p:nvSpPr>
        <p:spPr>
          <a:xfrm>
            <a:off x="4846320" y="960120"/>
            <a:ext cx="40230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⚙️  Machine Learning (SGDClassifier)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13"/>
          <p:cNvSpPr/>
          <p:nvPr/>
        </p:nvSpPr>
        <p:spPr>
          <a:xfrm>
            <a:off x="4846320" y="1463040"/>
            <a:ext cx="4023000" cy="27396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14"/>
          <p:cNvSpPr/>
          <p:nvPr/>
        </p:nvSpPr>
        <p:spPr>
          <a:xfrm>
            <a:off x="4937760" y="1463040"/>
            <a:ext cx="3840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2E7D32"/>
                </a:solidFill>
                <a:effectLst/>
                <a:uFillTx/>
                <a:latin typeface="Calibri"/>
              </a:rPr>
              <a:t>✅ Avantages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15"/>
          <p:cNvSpPr/>
          <p:nvPr/>
        </p:nvSpPr>
        <p:spPr>
          <a:xfrm>
            <a:off x="4937760" y="1783080"/>
            <a:ext cx="37486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0F1B35"/>
              </a:buClr>
              <a:buFont typeface="Symbol" charset="2"/>
              <a:buChar char=""/>
            </a:pPr>
            <a:r>
              <a:rPr lang="en-US" sz="1000" b="0" u="none" strike="noStrike">
                <a:solidFill>
                  <a:srgbClr val="0F1B35"/>
                </a:solidFill>
                <a:effectLst/>
                <a:uFillTx/>
                <a:latin typeface="Calibri"/>
              </a:rPr>
              <a:t>Accuracy 82.8 % et F1 macro 0.685 </a:t>
            </a:r>
            <a:r>
              <a:rPr lang="en-US" sz="1000" b="0" u="none" strike="noStrike">
                <a:solidFill>
                  <a:srgbClr val="0F1B35"/>
                </a:solidFill>
                <a:effectLst/>
                <a:uFillTx/>
                <a:latin typeface="Calibri"/>
              </a:rPr>
              <a:t>supérieurs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F1B35"/>
              </a:buClr>
              <a:buFont typeface="Symbol" charset="2"/>
              <a:buChar char=""/>
            </a:pPr>
            <a:r>
              <a:rPr lang="en-US" sz="1000" b="0" u="none" strike="noStrike">
                <a:solidFill>
                  <a:srgbClr val="0F1B35"/>
                </a:solidFill>
                <a:effectLst/>
                <a:uFillTx/>
                <a:latin typeface="Calibri"/>
              </a:rPr>
              <a:t>Latence sub-milliseconde : UX temps </a:t>
            </a:r>
            <a:r>
              <a:rPr lang="en-US" sz="1000" b="0" u="none" strike="noStrike">
                <a:solidFill>
                  <a:srgbClr val="0F1B35"/>
                </a:solidFill>
                <a:effectLst/>
                <a:uFillTx/>
                <a:latin typeface="Calibri"/>
              </a:rPr>
              <a:t>réel garanti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F1B35"/>
              </a:buClr>
              <a:buFont typeface="Symbol" charset="2"/>
              <a:buChar char=""/>
            </a:pPr>
            <a:r>
              <a:rPr lang="en-US" sz="1000" b="0" u="none" strike="noStrike">
                <a:solidFill>
                  <a:srgbClr val="0F1B35"/>
                </a:solidFill>
                <a:effectLst/>
                <a:uFillTx/>
                <a:latin typeface="Calibri"/>
              </a:rPr>
              <a:t>CPU suffisant : infra légère et </a:t>
            </a:r>
            <a:r>
              <a:rPr lang="en-US" sz="1000" b="0" u="none" strike="noStrike">
                <a:solidFill>
                  <a:srgbClr val="0F1B35"/>
                </a:solidFill>
                <a:effectLst/>
                <a:uFillTx/>
                <a:latin typeface="Calibri"/>
              </a:rPr>
              <a:t>économique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16"/>
          <p:cNvSpPr/>
          <p:nvPr/>
        </p:nvSpPr>
        <p:spPr>
          <a:xfrm>
            <a:off x="4846320" y="2743200"/>
            <a:ext cx="4023000" cy="273960"/>
          </a:xfrm>
          <a:prstGeom prst="rect">
            <a:avLst/>
          </a:prstGeom>
          <a:solidFill>
            <a:srgbClr val="FFEBEE"/>
          </a:solidFill>
          <a:ln w="12700">
            <a:solidFill>
              <a:srgbClr val="EF9A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17"/>
          <p:cNvSpPr/>
          <p:nvPr/>
        </p:nvSpPr>
        <p:spPr>
          <a:xfrm>
            <a:off x="4937760" y="2743200"/>
            <a:ext cx="3840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C62828"/>
                </a:solidFill>
                <a:effectLst/>
                <a:uFillTx/>
                <a:latin typeface="Calibri"/>
              </a:rPr>
              <a:t>❌ Inconvénients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18"/>
          <p:cNvSpPr/>
          <p:nvPr/>
        </p:nvSpPr>
        <p:spPr>
          <a:xfrm>
            <a:off x="4937760" y="3063240"/>
            <a:ext cx="37486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0F1B35"/>
              </a:buClr>
              <a:buFont typeface="Symbol" charset="2"/>
              <a:buChar char=""/>
            </a:pPr>
            <a:r>
              <a:rPr lang="en-US" sz="1000" b="0" u="none" strike="noStrike">
                <a:solidFill>
                  <a:srgbClr val="0F1B35"/>
                </a:solidFill>
                <a:effectLst/>
                <a:uFillTx/>
                <a:latin typeface="Calibri"/>
              </a:rPr>
              <a:t>Données labellisées requises (80% du dataset)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F1B35"/>
              </a:buClr>
              <a:buFont typeface="Symbol" charset="2"/>
              <a:buChar char=""/>
            </a:pPr>
            <a:r>
              <a:rPr lang="en-US" sz="1000" b="0" u="none" strike="noStrike">
                <a:solidFill>
                  <a:srgbClr val="0F1B35"/>
                </a:solidFill>
                <a:effectLst/>
                <a:uFillTx/>
                <a:latin typeface="Calibri"/>
              </a:rPr>
              <a:t>Ré-entraînement nécessaire pour nouvelles classes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F1B35"/>
              </a:buClr>
              <a:buFont typeface="Symbol" charset="2"/>
              <a:buChar char=""/>
            </a:pPr>
            <a:r>
              <a:rPr lang="en-US" sz="1000" b="0" u="none" strike="noStrike">
                <a:solidFill>
                  <a:srgbClr val="0F1B35"/>
                </a:solidFill>
                <a:effectLst/>
                <a:uFillTx/>
                <a:latin typeface="Calibri"/>
              </a:rPr>
              <a:t>Performances dégradées sur classes très rares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19"/>
          <p:cNvSpPr/>
          <p:nvPr/>
        </p:nvSpPr>
        <p:spPr>
          <a:xfrm>
            <a:off x="4526280" y="960120"/>
            <a:ext cx="360" cy="3017520"/>
          </a:xfrm>
          <a:prstGeom prst="line">
            <a:avLst/>
          </a:prstGeom>
          <a:ln w="19050">
            <a:solidFill>
              <a:srgbClr val="D0E8F2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20"/>
          <p:cNvSpPr/>
          <p:nvPr/>
        </p:nvSpPr>
        <p:spPr>
          <a:xfrm>
            <a:off x="274320" y="4069080"/>
            <a:ext cx="8595000" cy="685440"/>
          </a:xfrm>
          <a:prstGeom prst="rect">
            <a:avLst/>
          </a:prstGeom>
          <a:solidFill>
            <a:srgbClr val="EDE7F6"/>
          </a:solidFill>
          <a:ln w="12700">
            <a:solidFill>
              <a:srgbClr val="B39D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21"/>
          <p:cNvSpPr/>
          <p:nvPr/>
        </p:nvSpPr>
        <p:spPr>
          <a:xfrm>
            <a:off x="457200" y="4069080"/>
            <a:ext cx="83206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4A148C"/>
                </a:solidFill>
                <a:effectLst/>
                <a:uFillTx/>
                <a:latin typeface="Calibri"/>
              </a:rPr>
              <a:t>🚀 Bonus — Fine-tuning ModernBERT-large : </a:t>
            </a:r>
            <a:r>
              <a:rPr lang="en-US" sz="1000" b="0" u="none" strike="noStrike">
                <a:solidFill>
                  <a:srgbClr val="4A148C"/>
                </a:solidFill>
                <a:effectLst/>
                <a:uFillTx/>
                <a:latin typeface="Calibri"/>
              </a:rPr>
              <a:t>3ème approche explorée via Unsloth. Voir slides suivantes pour les résultats complets.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B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Shape 0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0F1B35"/>
          </a:solidFill>
          <a:ln w="12700">
            <a:solidFill>
              <a:srgbClr val="0F1B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1"/>
          <p:cNvSpPr/>
          <p:nvPr/>
        </p:nvSpPr>
        <p:spPr>
          <a:xfrm>
            <a:off x="0" y="777240"/>
            <a:ext cx="9143640" cy="5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2"/>
          <p:cNvSpPr/>
          <p:nvPr/>
        </p:nvSpPr>
        <p:spPr>
          <a:xfrm>
            <a:off x="457200" y="0"/>
            <a:ext cx="82292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Comparatif 3 approches — Performance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3"/>
          <p:cNvSpPr/>
          <p:nvPr/>
        </p:nvSpPr>
        <p:spPr>
          <a:xfrm>
            <a:off x="274320" y="914400"/>
            <a:ext cx="8595000" cy="347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4"/>
          <p:cNvSpPr/>
          <p:nvPr/>
        </p:nvSpPr>
        <p:spPr>
          <a:xfrm>
            <a:off x="274320" y="914400"/>
            <a:ext cx="85950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9DD9E8"/>
                </a:solidFill>
                <a:effectLst/>
                <a:uFillTx/>
                <a:latin typeface="Calibri"/>
              </a:rPr>
              <a:t>Évaluation commune : 1 000 tickets stratifiés — 11 classes  ·  Date : 2026-04-06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56" name="Table 0"/>
          <p:cNvGraphicFramePr/>
          <p:nvPr/>
        </p:nvGraphicFramePr>
        <p:xfrm>
          <a:off x="274320" y="1353240"/>
          <a:ext cx="8412120" cy="3218400"/>
        </p:xfrm>
        <a:graphic>
          <a:graphicData uri="http://schemas.openxmlformats.org/drawingml/2006/table">
            <a:tbl>
              <a:tblPr/>
              <a:tblGrid>
                <a:gridCol w="2194560"/>
                <a:gridCol w="2011680"/>
                <a:gridCol w="2194560"/>
                <a:gridCol w="2011680"/>
              </a:tblGrid>
              <a:tr h="4021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Métrique</a:t>
                      </a:r>
                      <a:endParaRPr lang="fr-F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0F1B3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🤖 LLM (Qwen3.5-122B) *GPU</a:t>
                      </a:r>
                      <a:endParaRPr lang="fr-F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⚙️ ML (SGDClassifier) </a:t>
                      </a:r>
                      <a:endParaRPr lang="fr-F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*</a:t>
                      </a:r>
                      <a:r>
                        <a:rPr lang="en-US" sz="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CPU</a:t>
                      </a:r>
                      <a:endParaRPr lang="fr-FR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🧠 ModernBERT fine-tuné *CPU</a:t>
                      </a:r>
                      <a:endParaRPr lang="fr-F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7C3AED"/>
                    </a:solidFill>
                  </a:tcPr>
                </a:tc>
              </a:tr>
              <a:tr h="4021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Accuracy</a:t>
                      </a:r>
                      <a:endParaRPr lang="fr-F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0.820</a:t>
                      </a:r>
                      <a:endParaRPr lang="fr-F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1C7293"/>
                          </a:solidFill>
                          <a:effectLst/>
                          <a:uFillTx/>
                          <a:latin typeface="Calibri"/>
                        </a:rPr>
                        <a:t>0.828 ⭐</a:t>
                      </a:r>
                      <a:endParaRPr lang="fr-F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0.787</a:t>
                      </a:r>
                      <a:endParaRPr lang="fr-F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1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F1 Macro</a:t>
                      </a:r>
                      <a:endParaRPr lang="fr-F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0.662</a:t>
                      </a:r>
                      <a:endParaRPr lang="fr-F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1C7293"/>
                          </a:solidFill>
                          <a:effectLst/>
                          <a:uFillTx/>
                          <a:latin typeface="Calibri"/>
                        </a:rPr>
                        <a:t>0.685 ⭐</a:t>
                      </a:r>
                      <a:endParaRPr lang="fr-F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0.636</a:t>
                      </a:r>
                      <a:endParaRPr lang="fr-F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2F8FC"/>
                    </a:solidFill>
                  </a:tcPr>
                </a:tc>
              </a:tr>
              <a:tr h="4021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F1 Weighted</a:t>
                      </a:r>
                      <a:endParaRPr lang="fr-F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0.822</a:t>
                      </a:r>
                      <a:endParaRPr lang="fr-F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0.685</a:t>
                      </a:r>
                      <a:endParaRPr lang="fr-F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0.794</a:t>
                      </a:r>
                      <a:endParaRPr lang="fr-F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1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Coverage</a:t>
                      </a:r>
                      <a:endParaRPr lang="fr-F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100 %</a:t>
                      </a:r>
                      <a:endParaRPr lang="fr-F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100 %</a:t>
                      </a:r>
                      <a:endParaRPr lang="fr-F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100 %</a:t>
                      </a:r>
                      <a:endParaRPr lang="fr-F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2F8FC"/>
                    </a:solidFill>
                  </a:tcPr>
                </a:tc>
              </a:tr>
              <a:tr h="4021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Latence moyenne</a:t>
                      </a:r>
                      <a:endParaRPr lang="fr-F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2 114 ms</a:t>
                      </a:r>
                      <a:endParaRPr lang="fr-F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1C7293"/>
                          </a:solidFill>
                          <a:effectLst/>
                          <a:uFillTx/>
                          <a:latin typeface="Calibri"/>
                        </a:rPr>
                        <a:t>&lt; 1 ms ⭐</a:t>
                      </a:r>
                      <a:endParaRPr lang="fr-F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1 639 ms</a:t>
                      </a:r>
                      <a:endParaRPr lang="fr-F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1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Latence P95</a:t>
                      </a:r>
                      <a:endParaRPr lang="fr-F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2 638 ms</a:t>
                      </a:r>
                      <a:endParaRPr lang="fr-F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1C7293"/>
                          </a:solidFill>
                          <a:effectLst/>
                          <a:uFillTx/>
                          <a:latin typeface="Calibri"/>
                        </a:rPr>
                        <a:t>&lt; 1 ms ⭐</a:t>
                      </a:r>
                      <a:endParaRPr lang="fr-F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5 380 ms</a:t>
                      </a:r>
                      <a:endParaRPr lang="fr-F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2F8FC"/>
                    </a:solidFill>
                  </a:tcPr>
                </a:tc>
              </a:tr>
              <a:tr h="4021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Débit</a:t>
                      </a:r>
                      <a:endParaRPr lang="fr-F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~0.5 t/s</a:t>
                      </a:r>
                      <a:endParaRPr lang="fr-F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1C7293"/>
                          </a:solidFill>
                          <a:effectLst/>
                          <a:uFillTx/>
                          <a:latin typeface="Calibri"/>
                        </a:rPr>
                        <a:t>&gt; 10 000 t/s ⭐</a:t>
                      </a:r>
                      <a:endParaRPr lang="fr-F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~0.6 t/s</a:t>
                      </a:r>
                      <a:endParaRPr lang="fr-F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7" name="Text 5"/>
          <p:cNvSpPr/>
          <p:nvPr/>
        </p:nvSpPr>
        <p:spPr>
          <a:xfrm>
            <a:off x="274320" y="4709160"/>
            <a:ext cx="8595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i="1" u="none" strike="noStrike">
                <a:solidFill>
                  <a:srgbClr val="6BA4BF"/>
                </a:solidFill>
                <a:effectLst/>
                <a:uFillTx/>
                <a:latin typeface="Calibri"/>
              </a:rPr>
              <a:t>ModernBERT : WillisBack/modernbert-large-consumer-finance-11cls (395M params, full fine-tuning Unsloth, RTX 5080, 6.3h d'entraînement)</a:t>
            </a:r>
            <a:endParaRPr lang="fr-F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B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Shape 0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0F1B35"/>
          </a:solidFill>
          <a:ln w="12700">
            <a:solidFill>
              <a:srgbClr val="0F1B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1"/>
          <p:cNvSpPr/>
          <p:nvPr/>
        </p:nvSpPr>
        <p:spPr>
          <a:xfrm>
            <a:off x="0" y="777240"/>
            <a:ext cx="9143640" cy="5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2"/>
          <p:cNvSpPr/>
          <p:nvPr/>
        </p:nvSpPr>
        <p:spPr>
          <a:xfrm>
            <a:off x="457200" y="0"/>
            <a:ext cx="82292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Comparatif 3 approches — Configuration &amp; coûts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61" name="Table 0"/>
          <p:cNvGraphicFramePr/>
          <p:nvPr/>
        </p:nvGraphicFramePr>
        <p:xfrm>
          <a:off x="274320" y="960120"/>
          <a:ext cx="8412120" cy="3794400"/>
        </p:xfrm>
        <a:graphic>
          <a:graphicData uri="http://schemas.openxmlformats.org/drawingml/2006/table">
            <a:tbl>
              <a:tblPr/>
              <a:tblGrid>
                <a:gridCol w="2286000"/>
                <a:gridCol w="2011680"/>
                <a:gridCol w="2011680"/>
                <a:gridCol w="2103120"/>
              </a:tblGrid>
              <a:tr h="3794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Critère</a:t>
                      </a:r>
                      <a:endParaRPr lang="fr-F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0F1B3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🤖 LLM (Qwen3.5-122B)</a:t>
                      </a:r>
                      <a:endParaRPr lang="fr-FR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⚙️ ML (SGDClassifier)</a:t>
                      </a:r>
                      <a:endParaRPr lang="fr-FR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🧠 ModernBERT fine-tuné</a:t>
                      </a:r>
                      <a:endParaRPr lang="fr-FR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7C3AED"/>
                    </a:solidFill>
                  </a:tcPr>
                </a:tc>
              </a:tr>
              <a:tr h="37944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Type</a:t>
                      </a:r>
                      <a:endParaRPr lang="fr-FR" sz="9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Zero-shot</a:t>
                      </a:r>
                      <a:endParaRPr lang="fr-FR" sz="9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Supervisé classique</a:t>
                      </a:r>
                      <a:endParaRPr lang="fr-FR" sz="9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Encoder fine-tuné</a:t>
                      </a:r>
                      <a:endParaRPr lang="fr-FR" sz="9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7944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Paramètres / features</a:t>
                      </a:r>
                      <a:endParaRPr lang="fr-FR" sz="9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~122B (int4 quant.)</a:t>
                      </a:r>
                      <a:endParaRPr lang="fr-FR" sz="9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TF-IDF 30 000 feat.</a:t>
                      </a:r>
                      <a:endParaRPr lang="fr-FR" sz="9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395M (full fine-tuning)</a:t>
                      </a:r>
                      <a:endParaRPr lang="fr-FR" sz="9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2F8FC"/>
                    </a:solidFill>
                  </a:tcPr>
                </a:tc>
              </a:tr>
              <a:tr h="37944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Infrastructure</a:t>
                      </a:r>
                      <a:endParaRPr lang="fr-FR" sz="9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GPU (DGX Spark)</a:t>
                      </a:r>
                      <a:endParaRPr lang="fr-FR" sz="9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CPU standard</a:t>
                      </a:r>
                      <a:endParaRPr lang="fr-FR" sz="9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CPU standard</a:t>
                      </a:r>
                      <a:endParaRPr lang="fr-FR" sz="9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7944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Données d'entraînement</a:t>
                      </a:r>
                      <a:endParaRPr lang="fr-FR" sz="9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0" b="1" u="none" strike="noStrike">
                          <a:solidFill>
                            <a:srgbClr val="1C7293"/>
                          </a:solidFill>
                          <a:effectLst/>
                          <a:uFillTx/>
                          <a:latin typeface="Calibri"/>
                        </a:rPr>
                        <a:t>Aucune ✅</a:t>
                      </a:r>
                      <a:endParaRPr lang="fr-FR" sz="9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Train split (306 k)</a:t>
                      </a:r>
                      <a:endParaRPr lang="fr-FR" sz="9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293 k tickets (HF)</a:t>
                      </a:r>
                      <a:endParaRPr lang="fr-FR" sz="9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2F8FC"/>
                    </a:solidFill>
                  </a:tcPr>
                </a:tc>
              </a:tr>
              <a:tr h="37944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Coût entraînement</a:t>
                      </a:r>
                      <a:endParaRPr lang="fr-FR" sz="9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0" b="1" u="none" strike="noStrike">
                          <a:solidFill>
                            <a:srgbClr val="1C7293"/>
                          </a:solidFill>
                          <a:effectLst/>
                          <a:uFillTx/>
                          <a:latin typeface="Calibri"/>
                        </a:rPr>
                        <a:t>Nul ✅</a:t>
                      </a:r>
                      <a:endParaRPr lang="fr-FR" sz="9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Faible (CPU, ~19 s)</a:t>
                      </a:r>
                      <a:endParaRPr lang="fr-FR" sz="9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Modéré (GPU, ~6.3 h)</a:t>
                      </a:r>
                      <a:endParaRPr lang="fr-FR" sz="9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7944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Coût inférence</a:t>
                      </a:r>
                      <a:endParaRPr lang="fr-FR" sz="9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Élevé (GPU dédié)</a:t>
                      </a:r>
                      <a:endParaRPr lang="fr-FR" sz="9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0" b="1" u="none" strike="noStrike">
                          <a:solidFill>
                            <a:srgbClr val="1C7293"/>
                          </a:solidFill>
                          <a:effectLst/>
                          <a:uFillTx/>
                          <a:latin typeface="Calibri"/>
                        </a:rPr>
                        <a:t>Très faible (CPU) ✅</a:t>
                      </a:r>
                      <a:endParaRPr lang="fr-FR" sz="9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Modéré (GPU)</a:t>
                      </a:r>
                      <a:endParaRPr lang="fr-FR" sz="9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2F8FC"/>
                    </a:solidFill>
                  </a:tcPr>
                </a:tc>
              </a:tr>
              <a:tr h="37944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Scalabilité</a:t>
                      </a:r>
                      <a:endParaRPr lang="fr-FR" sz="9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Limitée (0.5 t/s)</a:t>
                      </a:r>
                      <a:endParaRPr lang="fr-FR" sz="9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0" b="1" u="none" strike="noStrike">
                          <a:solidFill>
                            <a:srgbClr val="1C7293"/>
                          </a:solidFill>
                          <a:effectLst/>
                          <a:uFillTx/>
                          <a:latin typeface="Calibri"/>
                        </a:rPr>
                        <a:t>Excellente ✅</a:t>
                      </a:r>
                      <a:endParaRPr lang="fr-FR" sz="9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Bonne (batch GPU)</a:t>
                      </a:r>
                      <a:endParaRPr lang="fr-FR" sz="9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7944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Mise en production</a:t>
                      </a:r>
                      <a:endParaRPr lang="fr-FR" sz="9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API simple</a:t>
                      </a:r>
                      <a:endParaRPr lang="fr-FR" sz="9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0" b="1" u="none" strike="noStrike">
                          <a:solidFill>
                            <a:srgbClr val="1C7293"/>
                          </a:solidFill>
                          <a:effectLst/>
                          <a:uFillTx/>
                          <a:latin typeface="Calibri"/>
                        </a:rPr>
                        <a:t>Léger (pickle+API) ✅</a:t>
                      </a:r>
                      <a:endParaRPr lang="fr-FR" sz="9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Modéré (GPU requis)</a:t>
                      </a:r>
                      <a:endParaRPr lang="fr-FR" sz="9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2F8FC"/>
                    </a:solidFill>
                  </a:tcPr>
                </a:tc>
              </a:tr>
              <a:tr h="37944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Ajout nouvelles classes</a:t>
                      </a:r>
                      <a:endParaRPr lang="fr-FR" sz="9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0" b="1" u="none" strike="noStrike">
                          <a:solidFill>
                            <a:srgbClr val="1C7293"/>
                          </a:solidFill>
                          <a:effectLst/>
                          <a:uFillTx/>
                          <a:latin typeface="Calibri"/>
                        </a:rPr>
                        <a:t>Modifier le prompt ✅</a:t>
                      </a:r>
                      <a:endParaRPr lang="fr-FR" sz="9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Ré-entraîner</a:t>
                      </a:r>
                      <a:endParaRPr lang="fr-FR" sz="9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Ré-fine-tuner</a:t>
                      </a:r>
                      <a:endParaRPr lang="fr-FR" sz="9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B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hape 0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0F1B35"/>
          </a:solidFill>
          <a:ln w="12700">
            <a:solidFill>
              <a:srgbClr val="0F1B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1"/>
          <p:cNvSpPr/>
          <p:nvPr/>
        </p:nvSpPr>
        <p:spPr>
          <a:xfrm>
            <a:off x="0" y="777240"/>
            <a:ext cx="9143640" cy="543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2"/>
          <p:cNvSpPr/>
          <p:nvPr/>
        </p:nvSpPr>
        <p:spPr>
          <a:xfrm>
            <a:off x="457200" y="0"/>
            <a:ext cx="82292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Coûts &amp; Scalabilité — LLM via Mistral AI (API cloud)</a:t>
            </a:r>
            <a:endParaRPr lang="fr-FR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3"/>
          <p:cNvSpPr/>
          <p:nvPr/>
        </p:nvSpPr>
        <p:spPr>
          <a:xfrm>
            <a:off x="274320" y="914400"/>
            <a:ext cx="8595000" cy="383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4"/>
          <p:cNvSpPr/>
          <p:nvPr/>
        </p:nvSpPr>
        <p:spPr>
          <a:xfrm>
            <a:off x="274320" y="914400"/>
            <a:ext cx="85950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9DD9E8"/>
                </a:solidFill>
                <a:effectLst/>
                <a:uFillTx/>
                <a:latin typeface="Calibri"/>
              </a:rPr>
              <a:t>Estimation tokens : ~2 451 tokens/ticket (system prompt + labels + few-shot + texte)  ·  Source tarifs : mistral.com/pricing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67" name="Table 0"/>
          <p:cNvGraphicFramePr/>
          <p:nvPr/>
        </p:nvGraphicFramePr>
        <p:xfrm>
          <a:off x="274320" y="1389960"/>
          <a:ext cx="8777880" cy="2286000"/>
        </p:xfrm>
        <a:graphic>
          <a:graphicData uri="http://schemas.openxmlformats.org/drawingml/2006/table">
            <a:tbl>
              <a:tblPr/>
              <a:tblGrid>
                <a:gridCol w="2286000"/>
                <a:gridCol w="1600200"/>
                <a:gridCol w="1828800"/>
                <a:gridCol w="1828800"/>
                <a:gridCol w="1234440"/>
              </a:tblGrid>
              <a:tr h="4572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Modèle Mistral AI</a:t>
                      </a:r>
                      <a:endParaRPr lang="fr-F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0F1B3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1 000 tickets</a:t>
                      </a:r>
                      <a:endParaRPr lang="fr-F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383 564 tickets</a:t>
                      </a:r>
                      <a:endParaRPr lang="fr-F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Qualité estimée</a:t>
                      </a:r>
                      <a:endParaRPr lang="fr-F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0F1B3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Latence API</a:t>
                      </a:r>
                      <a:endParaRPr lang="fr-F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0F1B35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Mistral Small 3.1 ⭐</a:t>
                      </a:r>
                      <a:endParaRPr lang="fr-F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C7293"/>
                          </a:solidFill>
                          <a:effectLst/>
                          <a:uFillTx/>
                          <a:latin typeface="Calibri"/>
                        </a:rPr>
                        <a:t>~$0.25</a:t>
                      </a:r>
                      <a:endParaRPr lang="fr-F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C7293"/>
                          </a:solidFill>
                          <a:effectLst/>
                          <a:uFillTx/>
                          <a:latin typeface="Calibri"/>
                        </a:rPr>
                        <a:t>~$95.15</a:t>
                      </a:r>
                      <a:endParaRPr lang="fr-F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C7293"/>
                          </a:solidFill>
                          <a:effectLst/>
                          <a:uFillTx/>
                          <a:latin typeface="Calibri"/>
                        </a:rPr>
                        <a:t>Inférieure (7B)</a:t>
                      </a:r>
                      <a:endParaRPr lang="fr-F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C7293"/>
                          </a:solidFill>
                          <a:effectLst/>
                          <a:uFillTx/>
                          <a:latin typeface="Calibri"/>
                        </a:rPr>
                        <a:t>100–300 ms</a:t>
                      </a:r>
                      <a:endParaRPr lang="fr-F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Mistral Medium 3</a:t>
                      </a:r>
                      <a:endParaRPr lang="fr-F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~$1.00</a:t>
                      </a:r>
                      <a:endParaRPr lang="fr-F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~$383.68</a:t>
                      </a:r>
                      <a:endParaRPr lang="fr-F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Comparable (~76 MMLU)</a:t>
                      </a:r>
                      <a:endParaRPr lang="fr-F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200–500 ms</a:t>
                      </a:r>
                      <a:endParaRPr lang="fr-F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2F8FC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Mistral Large</a:t>
                      </a:r>
                      <a:endParaRPr lang="fr-F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~$4.96</a:t>
                      </a:r>
                      <a:endParaRPr lang="fr-F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~$1 903.06</a:t>
                      </a:r>
                      <a:endParaRPr lang="fr-F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Supérieure (~79 MMLU)</a:t>
                      </a:r>
                      <a:endParaRPr lang="fr-F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0F1B35"/>
                          </a:solidFill>
                          <a:effectLst/>
                          <a:uFillTx/>
                          <a:latin typeface="Calibri"/>
                        </a:rPr>
                        <a:t>500–1 000 ms</a:t>
                      </a:r>
                      <a:endParaRPr lang="fr-F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1C7293"/>
                          </a:solidFill>
                          <a:effectLst/>
                          <a:uFillTx/>
                          <a:latin typeface="Calibri"/>
                        </a:rPr>
                        <a:t>Local DGX Spark ⚡</a:t>
                      </a:r>
                      <a:endParaRPr lang="fr-F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E8F7F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C7293"/>
                          </a:solidFill>
                          <a:effectLst/>
                          <a:uFillTx/>
                          <a:latin typeface="Calibri"/>
                        </a:rPr>
                        <a:t>$0 (matériel amorti)</a:t>
                      </a:r>
                      <a:endParaRPr lang="fr-F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E8F7F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C7293"/>
                          </a:solidFill>
                          <a:effectLst/>
                          <a:uFillTx/>
                          <a:latin typeface="Calibri"/>
                        </a:rPr>
                        <a:t>$0 (matériel amorti)</a:t>
                      </a:r>
                      <a:endParaRPr lang="fr-F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E8F7F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C7293"/>
                          </a:solidFill>
                          <a:effectLst/>
                          <a:uFillTx/>
                          <a:latin typeface="Calibri"/>
                        </a:rPr>
                        <a:t>F1 0.66 (Qwen 122B)</a:t>
                      </a:r>
                      <a:endParaRPr lang="fr-F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E8F7F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C7293"/>
                          </a:solidFill>
                          <a:effectLst/>
                          <a:uFillTx/>
                          <a:latin typeface="Calibri"/>
                        </a:rPr>
                        <a:t>~2 114 ms</a:t>
                      </a:r>
                      <a:endParaRPr lang="fr-F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0E8F2"/>
                      </a:solidFill>
                      <a:prstDash val="solid"/>
                    </a:lnL>
                    <a:lnR w="6480">
                      <a:solidFill>
                        <a:srgbClr val="D0E8F2"/>
                      </a:solidFill>
                      <a:prstDash val="solid"/>
                    </a:lnR>
                    <a:lnT w="6480">
                      <a:solidFill>
                        <a:srgbClr val="D0E8F2"/>
                      </a:solidFill>
                      <a:prstDash val="solid"/>
                    </a:lnT>
                    <a:lnB w="6480">
                      <a:solidFill>
                        <a:srgbClr val="D0E8F2"/>
                      </a:solidFill>
                      <a:prstDash val="solid"/>
                    </a:lnB>
                    <a:solidFill>
                      <a:srgbClr val="E8F7F4"/>
                    </a:solidFill>
                  </a:tcPr>
                </a:tc>
              </a:tr>
            </a:tbl>
          </a:graphicData>
        </a:graphic>
      </p:graphicFrame>
      <p:sp>
        <p:nvSpPr>
          <p:cNvPr id="168" name="Shape 5"/>
          <p:cNvSpPr/>
          <p:nvPr/>
        </p:nvSpPr>
        <p:spPr>
          <a:xfrm>
            <a:off x="274320" y="3840480"/>
            <a:ext cx="2697120" cy="868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6"/>
          <p:cNvSpPr/>
          <p:nvPr/>
        </p:nvSpPr>
        <p:spPr>
          <a:xfrm>
            <a:off x="365760" y="3858840"/>
            <a:ext cx="2514240" cy="83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0F1B35"/>
                </a:solidFill>
                <a:effectLst/>
                <a:uFillTx/>
                <a:latin typeface="Calibri"/>
              </a:rPr>
              <a:t>💡  Pour un prototype ou éval ponctuelle, Mistral Small 3.1 est optimal : &lt; $1 pour 1 000 tickets.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7"/>
          <p:cNvSpPr/>
          <p:nvPr/>
        </p:nvSpPr>
        <p:spPr>
          <a:xfrm>
            <a:off x="3154680" y="3840480"/>
            <a:ext cx="2697120" cy="868320"/>
          </a:xfrm>
          <a:prstGeom prst="rect">
            <a:avLst/>
          </a:prstGeom>
          <a:solidFill>
            <a:srgbClr val="FFFFFF"/>
          </a:solidFill>
          <a:ln w="19050">
            <a:solidFill>
              <a:srgbClr val="F4A261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8"/>
          <p:cNvSpPr/>
          <p:nvPr/>
        </p:nvSpPr>
        <p:spPr>
          <a:xfrm>
            <a:off x="3246120" y="3858840"/>
            <a:ext cx="2514240" cy="83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0F1B35"/>
                </a:solidFill>
                <a:effectLst/>
                <a:uFillTx/>
                <a:latin typeface="Calibri"/>
              </a:rPr>
              <a:t>⚠️  À l'échelle complète (383 k tickets), même </a:t>
            </a:r>
            <a:r>
              <a:rPr lang="en-US" sz="950" b="0" u="none" strike="noStrike">
                <a:solidFill>
                  <a:srgbClr val="0F1B35"/>
                </a:solidFill>
                <a:effectLst/>
                <a:uFillTx/>
                <a:latin typeface="Calibri"/>
              </a:rPr>
              <a:t>Mistral Small coûte ~$95. Mistral Large &gt; $1 </a:t>
            </a:r>
            <a:r>
              <a:rPr lang="en-US" sz="950" b="0" u="none" strike="noStrike">
                <a:solidFill>
                  <a:srgbClr val="0F1B35"/>
                </a:solidFill>
                <a:effectLst/>
                <a:uFillTx/>
                <a:latin typeface="Calibri"/>
              </a:rPr>
              <a:t>900.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9"/>
          <p:cNvSpPr/>
          <p:nvPr/>
        </p:nvSpPr>
        <p:spPr>
          <a:xfrm>
            <a:off x="6035040" y="3840480"/>
            <a:ext cx="2697120" cy="868320"/>
          </a:xfrm>
          <a:prstGeom prst="rect">
            <a:avLst/>
          </a:prstGeom>
          <a:solidFill>
            <a:srgbClr val="FFFFFF"/>
          </a:solidFill>
          <a:ln w="19050">
            <a:solidFill>
              <a:srgbClr val="065A82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10"/>
          <p:cNvSpPr/>
          <p:nvPr/>
        </p:nvSpPr>
        <p:spPr>
          <a:xfrm>
            <a:off x="6126480" y="3858840"/>
            <a:ext cx="2514240" cy="83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0F1B35"/>
                </a:solidFill>
                <a:effectLst/>
                <a:uFillTx/>
                <a:latin typeface="Calibri"/>
              </a:rPr>
              <a:t>🔒  Données privées : </a:t>
            </a:r>
            <a:r>
              <a:rPr lang="en-US" sz="950" b="0" u="none" strike="noStrike">
                <a:solidFill>
                  <a:srgbClr val="0F1B35"/>
                </a:solidFill>
                <a:effectLst/>
                <a:uFillTx/>
                <a:latin typeface="Calibri"/>
              </a:rPr>
              <a:t>le DGX Spark on-</a:t>
            </a:r>
            <a:r>
              <a:rPr lang="en-US" sz="950" b="0" u="none" strike="noStrike">
                <a:solidFill>
                  <a:srgbClr val="0F1B35"/>
                </a:solidFill>
                <a:effectLst/>
                <a:uFillTx/>
                <a:latin typeface="Calibri"/>
              </a:rPr>
              <a:t>premise garantit la </a:t>
            </a:r>
            <a:r>
              <a:rPr lang="en-US" sz="950" b="0" u="none" strike="noStrike">
                <a:solidFill>
                  <a:srgbClr val="0F1B35"/>
                </a:solidFill>
                <a:effectLst/>
                <a:uFillTx/>
                <a:latin typeface="Calibri"/>
              </a:rPr>
              <a:t>confidentialité sans </a:t>
            </a:r>
            <a:r>
              <a:rPr lang="en-US" sz="950" b="0" u="none" strike="noStrike">
                <a:solidFill>
                  <a:srgbClr val="0F1B35"/>
                </a:solidFill>
                <a:effectLst/>
                <a:uFillTx/>
                <a:latin typeface="Calibri"/>
              </a:rPr>
              <a:t>opt-out cloud.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11"/>
          <p:cNvSpPr/>
          <p:nvPr/>
        </p:nvSpPr>
        <p:spPr>
          <a:xfrm>
            <a:off x="274320" y="4800600"/>
            <a:ext cx="8595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i="1" u="none" strike="noStrike">
                <a:solidFill>
                  <a:srgbClr val="6BA4BF"/>
                </a:solidFill>
                <a:effectLst/>
                <a:uFillTx/>
                <a:latin typeface="Calibri"/>
              </a:rPr>
              <a:t>Note : Tarifs indicatifs 2026 — à vérifier sur mistral.ai/pricing avant déploiement. Coûts hors taxes.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Shape 0"/>
          <p:cNvSpPr/>
          <p:nvPr/>
        </p:nvSpPr>
        <p:spPr>
          <a:xfrm>
            <a:off x="-914400" y="3200400"/>
            <a:ext cx="4571640" cy="4571640"/>
          </a:xfrm>
          <a:prstGeom prst="ellipse">
            <a:avLst/>
          </a:prstGeom>
          <a:solidFill>
            <a:srgbClr val="065A82">
              <a:alpha val="25000"/>
            </a:srgbClr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1"/>
          <p:cNvSpPr/>
          <p:nvPr/>
        </p:nvSpPr>
        <p:spPr>
          <a:xfrm>
            <a:off x="6400800" y="-914400"/>
            <a:ext cx="3657240" cy="3657240"/>
          </a:xfrm>
          <a:prstGeom prst="ellipse">
            <a:avLst/>
          </a:prstGeom>
          <a:solidFill>
            <a:srgbClr val="1C7293">
              <a:alpha val="20000"/>
            </a:srgbClr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2"/>
          <p:cNvSpPr/>
          <p:nvPr/>
        </p:nvSpPr>
        <p:spPr>
          <a:xfrm>
            <a:off x="457200" y="16452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pc="300" strike="noStrike">
                <a:solidFill>
                  <a:srgbClr val="9DD9E8"/>
                </a:solidFill>
                <a:effectLst/>
                <a:uFillTx/>
                <a:latin typeface="Calibri"/>
              </a:rPr>
              <a:t>Recommandation finale</a:t>
            </a:r>
            <a:endParaRPr lang="fr-F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3"/>
          <p:cNvSpPr/>
          <p:nvPr/>
        </p:nvSpPr>
        <p:spPr>
          <a:xfrm>
            <a:off x="228600" y="749880"/>
            <a:ext cx="2742840" cy="3291480"/>
          </a:xfrm>
          <a:prstGeom prst="rect">
            <a:avLst/>
          </a:prstGeom>
          <a:solidFill>
            <a:srgbClr val="0D1B2E"/>
          </a:solidFill>
          <a:ln w="1905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4"/>
          <p:cNvSpPr/>
          <p:nvPr/>
        </p:nvSpPr>
        <p:spPr>
          <a:xfrm>
            <a:off x="228600" y="749880"/>
            <a:ext cx="2742840" cy="63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5"/>
          <p:cNvSpPr/>
          <p:nvPr/>
        </p:nvSpPr>
        <p:spPr>
          <a:xfrm>
            <a:off x="1325880" y="841320"/>
            <a:ext cx="502560" cy="5025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6"/>
          <p:cNvSpPr/>
          <p:nvPr/>
        </p:nvSpPr>
        <p:spPr>
          <a:xfrm>
            <a:off x="1325880" y="84132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</a:t>
            </a:r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7"/>
          <p:cNvSpPr/>
          <p:nvPr/>
        </p:nvSpPr>
        <p:spPr>
          <a:xfrm>
            <a:off x="320040" y="1435680"/>
            <a:ext cx="2559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9DD9E8"/>
                </a:solidFill>
                <a:effectLst/>
                <a:uFillTx/>
                <a:latin typeface="Calibri"/>
              </a:rPr>
              <a:t>Prototype / Exploration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8"/>
          <p:cNvSpPr/>
          <p:nvPr/>
        </p:nvSpPr>
        <p:spPr>
          <a:xfrm>
            <a:off x="502920" y="1874520"/>
            <a:ext cx="2194200" cy="3196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9"/>
          <p:cNvSpPr/>
          <p:nvPr/>
        </p:nvSpPr>
        <p:spPr>
          <a:xfrm>
            <a:off x="502920" y="1874520"/>
            <a:ext cx="2194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LLM zero-shot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10"/>
          <p:cNvSpPr/>
          <p:nvPr/>
        </p:nvSpPr>
        <p:spPr>
          <a:xfrm>
            <a:off x="320040" y="2267640"/>
            <a:ext cx="2559960" cy="169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D0E8F2"/>
                </a:solidFill>
                <a:effectLst/>
                <a:uFillTx/>
                <a:latin typeface="Calibri"/>
              </a:rPr>
              <a:t>Zero-shot, démarrage immédiat</a:t>
            </a:r>
            <a:endParaRPr lang="fr-F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D0E8F2"/>
                </a:solidFill>
                <a:effectLst/>
                <a:uFillTx/>
                <a:latin typeface="Calibri"/>
              </a:rPr>
              <a:t>Valide la faisabilité sans données</a:t>
            </a:r>
            <a:endParaRPr lang="fr-F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D0E8F2"/>
                </a:solidFill>
                <a:effectLst/>
                <a:uFillTx/>
                <a:latin typeface="Calibri"/>
              </a:rPr>
              <a:t>Coût : ~$0.25 / 1 000 tickets (Mistral Small)</a:t>
            </a:r>
            <a:endParaRPr lang="fr-F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11"/>
          <p:cNvSpPr/>
          <p:nvPr/>
        </p:nvSpPr>
        <p:spPr>
          <a:xfrm>
            <a:off x="3154680" y="749880"/>
            <a:ext cx="2742840" cy="3291480"/>
          </a:xfrm>
          <a:prstGeom prst="rect">
            <a:avLst/>
          </a:prstGeom>
          <a:solidFill>
            <a:srgbClr val="0D1B2E"/>
          </a:solidFill>
          <a:ln w="1905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12"/>
          <p:cNvSpPr/>
          <p:nvPr/>
        </p:nvSpPr>
        <p:spPr>
          <a:xfrm>
            <a:off x="3154680" y="749880"/>
            <a:ext cx="2742840" cy="637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13"/>
          <p:cNvSpPr/>
          <p:nvPr/>
        </p:nvSpPr>
        <p:spPr>
          <a:xfrm>
            <a:off x="4251960" y="841320"/>
            <a:ext cx="502560" cy="5025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14"/>
          <p:cNvSpPr/>
          <p:nvPr/>
        </p:nvSpPr>
        <p:spPr>
          <a:xfrm>
            <a:off x="4251960" y="84132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</a:t>
            </a:r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15"/>
          <p:cNvSpPr/>
          <p:nvPr/>
        </p:nvSpPr>
        <p:spPr>
          <a:xfrm>
            <a:off x="3246120" y="1435680"/>
            <a:ext cx="2559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9DD9E8"/>
                </a:solidFill>
                <a:effectLst/>
                <a:uFillTx/>
                <a:latin typeface="Calibri"/>
              </a:rPr>
              <a:t>Production haut volume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16"/>
          <p:cNvSpPr/>
          <p:nvPr/>
        </p:nvSpPr>
        <p:spPr>
          <a:xfrm>
            <a:off x="3429000" y="1874520"/>
            <a:ext cx="2194200" cy="3196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17"/>
          <p:cNvSpPr/>
          <p:nvPr/>
        </p:nvSpPr>
        <p:spPr>
          <a:xfrm>
            <a:off x="3429000" y="1874520"/>
            <a:ext cx="2194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ML — SGDClassifier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18"/>
          <p:cNvSpPr/>
          <p:nvPr/>
        </p:nvSpPr>
        <p:spPr>
          <a:xfrm>
            <a:off x="3246120" y="2267640"/>
            <a:ext cx="2559960" cy="169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D0E8F2"/>
                </a:solidFill>
                <a:effectLst/>
                <a:uFillTx/>
                <a:latin typeface="Calibri"/>
              </a:rPr>
              <a:t>F1 macro 0.685 — meilleure perf.</a:t>
            </a:r>
            <a:endParaRPr lang="fr-F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D0E8F2"/>
                </a:solidFill>
                <a:effectLst/>
                <a:uFillTx/>
                <a:latin typeface="Calibri"/>
              </a:rPr>
              <a:t>Latence &lt; 1 ms — UX temps réel</a:t>
            </a:r>
            <a:endParaRPr lang="fr-F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D0E8F2"/>
                </a:solidFill>
                <a:effectLst/>
                <a:uFillTx/>
                <a:latin typeface="Calibri"/>
              </a:rPr>
              <a:t>CPU seul, déploiement léger, $0 inférence</a:t>
            </a:r>
            <a:endParaRPr lang="fr-F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Shape 19"/>
          <p:cNvSpPr/>
          <p:nvPr/>
        </p:nvSpPr>
        <p:spPr>
          <a:xfrm>
            <a:off x="6080760" y="749880"/>
            <a:ext cx="2742840" cy="3291480"/>
          </a:xfrm>
          <a:prstGeom prst="rect">
            <a:avLst/>
          </a:prstGeom>
          <a:solidFill>
            <a:srgbClr val="0D1B2E"/>
          </a:solidFill>
          <a:ln w="1905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20"/>
          <p:cNvSpPr/>
          <p:nvPr/>
        </p:nvSpPr>
        <p:spPr>
          <a:xfrm>
            <a:off x="6080760" y="749880"/>
            <a:ext cx="2742840" cy="63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21"/>
          <p:cNvSpPr/>
          <p:nvPr/>
        </p:nvSpPr>
        <p:spPr>
          <a:xfrm>
            <a:off x="7178040" y="841320"/>
            <a:ext cx="502560" cy="5025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22"/>
          <p:cNvSpPr/>
          <p:nvPr/>
        </p:nvSpPr>
        <p:spPr>
          <a:xfrm>
            <a:off x="7178040" y="84132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3</a:t>
            </a:r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23"/>
          <p:cNvSpPr/>
          <p:nvPr/>
        </p:nvSpPr>
        <p:spPr>
          <a:xfrm>
            <a:off x="6172200" y="1435680"/>
            <a:ext cx="2559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9DD9E8"/>
                </a:solidFill>
                <a:effectLst/>
                <a:uFillTx/>
                <a:latin typeface="Calibri"/>
              </a:rPr>
              <a:t>Qualité maximale / évolution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Shape 24"/>
          <p:cNvSpPr/>
          <p:nvPr/>
        </p:nvSpPr>
        <p:spPr>
          <a:xfrm>
            <a:off x="6355080" y="1874520"/>
            <a:ext cx="2194200" cy="3196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25"/>
          <p:cNvSpPr/>
          <p:nvPr/>
        </p:nvSpPr>
        <p:spPr>
          <a:xfrm>
            <a:off x="6355080" y="1874520"/>
            <a:ext cx="2194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ModernBERT fine-tuné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26"/>
          <p:cNvSpPr/>
          <p:nvPr/>
        </p:nvSpPr>
        <p:spPr>
          <a:xfrm>
            <a:off x="6172200" y="2267640"/>
            <a:ext cx="2559960" cy="169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D0E8F2"/>
                </a:solidFill>
                <a:effectLst/>
                <a:uFillTx/>
                <a:latin typeface="Calibri"/>
              </a:rPr>
              <a:t>Meilleur compromis qualité/coût GPU</a:t>
            </a:r>
            <a:endParaRPr lang="fr-F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D0E8F2"/>
                </a:solidFill>
                <a:effectLst/>
                <a:uFillTx/>
                <a:latin typeface="Calibri"/>
              </a:rPr>
              <a:t>395M params, entraîné en 6.3 h</a:t>
            </a:r>
            <a:endParaRPr lang="fr-F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D0E8F2"/>
                </a:solidFill>
                <a:effectLst/>
                <a:uFillTx/>
                <a:latin typeface="Calibri"/>
              </a:rPr>
              <a:t>Voie de montée en gamme recommandée</a:t>
            </a:r>
            <a:endParaRPr lang="fr-F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Shape 27"/>
          <p:cNvSpPr/>
          <p:nvPr/>
        </p:nvSpPr>
        <p:spPr>
          <a:xfrm>
            <a:off x="228600" y="4169520"/>
            <a:ext cx="8686440" cy="5025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28"/>
          <p:cNvSpPr/>
          <p:nvPr/>
        </p:nvSpPr>
        <p:spPr>
          <a:xfrm>
            <a:off x="320040" y="4169520"/>
            <a:ext cx="8503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Stratégie hybride recommandée : </a:t>
            </a: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Phase pilote → LLM (collecte labels)  ·  Production → ML SGDClassifier  ·  Évolution → ModernBERT fine-tuné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29"/>
          <p:cNvSpPr/>
          <p:nvPr/>
        </p:nvSpPr>
        <p:spPr>
          <a:xfrm>
            <a:off x="228600" y="4773240"/>
            <a:ext cx="8686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i="1" u="none" strike="noStrike">
                <a:solidFill>
                  <a:srgbClr val="4A6080"/>
                </a:solidFill>
                <a:effectLst/>
                <a:uFillTx/>
                <a:latin typeface="Calibri"/>
              </a:rPr>
              <a:t>Déclaration d'usage de l'IAG : des outils d'intelligence artificielle générative (GitHub Copilot, Claude) ont été utilisés en assistance au développement du code et à la production des livrables de ce projet.</a:t>
            </a:r>
            <a:endParaRPr lang="fr-FR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Application>LibreOffice/26.2.1.2$Linux_X86_64 LibreOffice_project/620$Build-2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2026-04-06T14:34:48Z</dcterms:created>
  <dc:creator>William Derue</dc:creator>
  <dc:description/>
  <dc:language>fr-FR</dc:language>
  <cp:lastModifiedBy/>
  <dcterms:modified xsi:type="dcterms:W3CDTF">2026-04-06T17:02:20Z</dcterms:modified>
  <cp:revision>5</cp:revision>
  <dc:subject>PptxGenJS Presentation</dc:subject>
  <dc:title>Projet 12 – Phase 1 – ZenAssist Étiquetage Automatique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13</vt:i4>
  </property>
  <property fmtid="{D5CDD505-2E9C-101B-9397-08002B2CF9AE}" pid="3" name="PresentationFormat">
    <vt:lpwstr>On-screen Show (16:9)</vt:lpwstr>
  </property>
  <property fmtid="{D5CDD505-2E9C-101B-9397-08002B2CF9AE}" pid="4" name="Slides">
    <vt:i4>13</vt:i4>
  </property>
</Properties>
</file>